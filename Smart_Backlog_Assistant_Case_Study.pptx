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2EAFC6-FE04-4912-AABB-D7055929C8E5}"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5DEDF5-4B6A-4336-A58F-DE4D6F5BCC65}" type="slidenum">
              <a:rPr lang="en-US" smtClean="0"/>
              <a:t>‹#›</a:t>
            </a:fld>
            <a:endParaRPr lang="en-US"/>
          </a:p>
        </p:txBody>
      </p:sp>
    </p:spTree>
    <p:extLst>
      <p:ext uri="{BB962C8B-B14F-4D97-AF65-F5344CB8AC3E}">
        <p14:creationId xmlns:p14="http://schemas.microsoft.com/office/powerpoint/2010/main" val="749088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message</a:t>
            </a:r>
          </a:p>
          <a:p>
            <a:endParaRPr lang="en-US"/>
          </a:p>
          <a:p>
            <a:r>
              <a:rPr lang="en-US"/>
              <a:t>Smart Backlog Assistant is a practical example of AI-enhanced engineering, not simply a model demonstration. It converts unstructured engineering information into a grounded backlog proposal that a person can review.</a:t>
            </a:r>
          </a:p>
          <a:p>
            <a:endParaRPr lang="en-US"/>
          </a:p>
          <a:p>
            <a:r>
              <a:rPr lang="en-US"/>
              <a:t>The core message for this case study is shown on the slide: AI provides acceleration, but trust comes from disciplined engineering. In this project, that discipline includes specification-first design, evidence grounding, deterministic validation, requirement-to-test traceability, and mandatory human approval.</a:t>
            </a:r>
          </a:p>
          <a:p>
            <a:endParaRPr lang="en-US"/>
          </a:p>
          <a:p>
            <a:r>
              <a:rPr lang="en-US"/>
              <a:t>The application can use an AI provider for interpretation and drafting, but it does not delegate correctness or final accountability to the model.</a:t>
            </a:r>
          </a:p>
          <a:p>
            <a:endParaRPr lang="en-US"/>
          </a:p>
          <a:p>
            <a:r>
              <a:rPr lang="en-US"/>
              <a:t>Transition: I will begin with the engineering problem that made this solution useful.</a:t>
            </a:r>
          </a:p>
        </p:txBody>
      </p:sp>
      <p:sp>
        <p:nvSpPr>
          <p:cNvPr id="4" name="Slide Number Placeholder 3"/>
          <p:cNvSpPr>
            <a:spLocks noGrp="1"/>
          </p:cNvSpPr>
          <p:nvPr>
            <p:ph type="sldNum" sz="quarter" idx="5"/>
          </p:nvPr>
        </p:nvSpPr>
        <p:spPr/>
        <p:txBody>
          <a:bodyPr/>
          <a:lstStyle/>
          <a:p>
            <a:fld id="{0F5DEDF5-4B6A-4336-A58F-DE4D6F5BCC65}" type="slidenum">
              <a:rPr lang="en-US" smtClean="0"/>
              <a:t>1</a:t>
            </a:fld>
            <a:endParaRPr lang="en-US"/>
          </a:p>
        </p:txBody>
      </p:sp>
    </p:spTree>
    <p:extLst>
      <p:ext uri="{BB962C8B-B14F-4D97-AF65-F5344CB8AC3E}">
        <p14:creationId xmlns:p14="http://schemas.microsoft.com/office/powerpoint/2010/main" val="416321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 and opportunity</a:t>
            </a:r>
          </a:p>
          <a:p>
            <a:endParaRPr lang="en-US"/>
          </a:p>
          <a:p>
            <a:r>
              <a:rPr lang="en-US"/>
              <a:t>Engineering requirements commonly arrive in meeting notes, text documents, or PDFs. A person must interpret them, identify constraints, compare them with existing work, and turn them into actionable stories. This process is slow and can produce missed constraints, duplicate backlog work, and acceptance criteria that are difficult to test.</a:t>
            </a:r>
          </a:p>
          <a:p>
            <a:endParaRPr lang="en-US"/>
          </a:p>
          <a:p>
            <a:r>
              <a:rPr lang="en-US"/>
              <a:t>The solution focuses on three practical use cases. First, it extracts atomic requirements from source documents. Second, it compares those requirements with an existing JSON backlog to identify duplicate, related, or missing work. Third, it creates a review-ready proposal containing user stories, acceptance criteria, priorities, categories, and traceability.</a:t>
            </a:r>
          </a:p>
          <a:p>
            <a:endParaRPr lang="en-US"/>
          </a:p>
          <a:p>
            <a:r>
              <a:rPr lang="en-US"/>
              <a:t>An important boundary is that the output is only a proposal. The application does not automatically publish or modify backlog items.</a:t>
            </a:r>
          </a:p>
          <a:p>
            <a:endParaRPr lang="en-US"/>
          </a:p>
          <a:p>
            <a:r>
              <a:rPr lang="en-US"/>
              <a:t>Transition: To avoid treating AI as an ad hoc coding shortcut, the project began with a formal specification.</a:t>
            </a:r>
          </a:p>
        </p:txBody>
      </p:sp>
      <p:sp>
        <p:nvSpPr>
          <p:cNvPr id="4" name="Slide Number Placeholder 3"/>
          <p:cNvSpPr>
            <a:spLocks noGrp="1"/>
          </p:cNvSpPr>
          <p:nvPr>
            <p:ph type="sldNum" sz="quarter" idx="5"/>
          </p:nvPr>
        </p:nvSpPr>
        <p:spPr/>
        <p:txBody>
          <a:bodyPr/>
          <a:lstStyle/>
          <a:p>
            <a:fld id="{0F5DEDF5-4B6A-4336-A58F-DE4D6F5BCC65}" type="slidenum">
              <a:rPr lang="en-US" smtClean="0"/>
              <a:t>2</a:t>
            </a:fld>
            <a:endParaRPr lang="en-US"/>
          </a:p>
        </p:txBody>
      </p:sp>
    </p:spTree>
    <p:extLst>
      <p:ext uri="{BB962C8B-B14F-4D97-AF65-F5344CB8AC3E}">
        <p14:creationId xmlns:p14="http://schemas.microsoft.com/office/powerpoint/2010/main" val="1529044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Specification-first delivery</a:t>
            </a:r>
          </a:p>
          <a:p>
            <a:endParaRPr lang="en-US"/>
          </a:p>
          <a:p>
            <a:r>
              <a:rPr lang="en-US"/>
              <a:t>This application was designed from the beginning using GitHub Spec Kit. The artifacts were not added retrospectively to describe an existing application.</a:t>
            </a:r>
          </a:p>
          <a:p>
            <a:endParaRPr lang="en-US"/>
          </a:p>
          <a:p>
            <a:r>
              <a:rPr lang="en-US"/>
              <a:t>The process started with the engineering problem and use cases. The constitution then established evidence, safety, testing, and governance principles. The feature specification defined 24 functional requirements. Research, architecture, data models, output contracts, and implementation tasks translated those requirements into a buildable design.</a:t>
            </a:r>
          </a:p>
          <a:p>
            <a:endParaRPr lang="en-US"/>
          </a:p>
          <a:p>
            <a:r>
              <a:rPr lang="en-US"/>
              <a:t>AI assisted with requirement analysis, architecture exploration, implementation, test generation, and documentation. However, generated artifacts were reviewed, and the implementation was checked against the specification.</a:t>
            </a:r>
          </a:p>
          <a:p>
            <a:endParaRPr lang="en-US"/>
          </a:p>
          <a:p>
            <a:r>
              <a:rPr lang="en-US"/>
              <a:t>The result is an active engineering contract: requirements map to design decisions, code, and automated tests. This makes the use of AI explainable and reproducible.</a:t>
            </a:r>
          </a:p>
          <a:p>
            <a:endParaRPr lang="en-US"/>
          </a:p>
          <a:p>
            <a:r>
              <a:rPr lang="en-US"/>
              <a:t>Transition: The architecture applies the same separation of flexible AI reasoning and deterministic control.</a:t>
            </a:r>
          </a:p>
        </p:txBody>
      </p:sp>
      <p:sp>
        <p:nvSpPr>
          <p:cNvPr id="4" name="Slide Number Placeholder 3"/>
          <p:cNvSpPr>
            <a:spLocks noGrp="1"/>
          </p:cNvSpPr>
          <p:nvPr>
            <p:ph type="sldNum" sz="quarter" idx="5"/>
          </p:nvPr>
        </p:nvSpPr>
        <p:spPr/>
        <p:txBody>
          <a:bodyPr/>
          <a:lstStyle/>
          <a:p>
            <a:fld id="{0F5DEDF5-4B6A-4336-A58F-DE4D6F5BCC65}" type="slidenum">
              <a:rPr lang="en-US" smtClean="0"/>
              <a:t>3</a:t>
            </a:fld>
            <a:endParaRPr lang="en-US"/>
          </a:p>
        </p:txBody>
      </p:sp>
    </p:spTree>
    <p:extLst>
      <p:ext uri="{BB962C8B-B14F-4D97-AF65-F5344CB8AC3E}">
        <p14:creationId xmlns:p14="http://schemas.microsoft.com/office/powerpoint/2010/main" val="2739644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Architecture and workflow</a:t>
            </a:r>
          </a:p>
          <a:p>
            <a:endParaRPr lang="en-US"/>
          </a:p>
          <a:p>
            <a:r>
              <a:rPr lang="en-US"/>
              <a:t>The workflow begins with authoritative inputs: meeting notes or requirement documents, plus an existing backlog in JSON. Deterministic loaders validate, normalize, and limit this input before it reaches the agent workflow.</a:t>
            </a:r>
          </a:p>
          <a:p>
            <a:endParaRPr lang="en-US"/>
          </a:p>
          <a:p>
            <a:r>
              <a:rPr lang="en-US"/>
              <a:t>There are five sequential agents. The orchestrator plans the work. The requirements analyst extracts grounded requirements. The backlog analyst finds duplicate, related, and missing work. The story writer creates stories and acceptance criteria. Finally, the quality reviewer validates the complete proposal.</a:t>
            </a:r>
          </a:p>
          <a:p>
            <a:endParaRPr lang="en-US"/>
          </a:p>
          <a:p>
            <a:r>
              <a:rPr lang="en-US"/>
              <a:t>Each agent has exactly one request-bound controlled tool, and every stage must produce exactly one tool record. This makes the workflow auditable.</a:t>
            </a:r>
          </a:p>
          <a:p>
            <a:endParaRPr lang="en-US"/>
          </a:p>
          <a:p>
            <a:r>
              <a:rPr lang="en-US"/>
              <a:t>AI is used for language interpretation, relationship explanation, and drafting. Deterministic code controls evidence, identifiers, data types, limits, validation, and fallback. JSON is the canonical output, Markdown supports review, and a human makes the final decision.</a:t>
            </a:r>
          </a:p>
          <a:p>
            <a:endParaRPr lang="en-US"/>
          </a:p>
          <a:p>
            <a:r>
              <a:rPr lang="en-US"/>
              <a:t>Transition: The prompt design and guardrails show how that trust boundary is implemented.</a:t>
            </a:r>
          </a:p>
        </p:txBody>
      </p:sp>
      <p:sp>
        <p:nvSpPr>
          <p:cNvPr id="4" name="Slide Number Placeholder 3"/>
          <p:cNvSpPr>
            <a:spLocks noGrp="1"/>
          </p:cNvSpPr>
          <p:nvPr>
            <p:ph type="sldNum" sz="quarter" idx="5"/>
          </p:nvPr>
        </p:nvSpPr>
        <p:spPr/>
        <p:txBody>
          <a:bodyPr/>
          <a:lstStyle/>
          <a:p>
            <a:fld id="{0F5DEDF5-4B6A-4336-A58F-DE4D6F5BCC65}" type="slidenum">
              <a:rPr lang="en-US" smtClean="0"/>
              <a:t>4</a:t>
            </a:fld>
            <a:endParaRPr lang="en-US"/>
          </a:p>
        </p:txBody>
      </p:sp>
    </p:spTree>
    <p:extLst>
      <p:ext uri="{BB962C8B-B14F-4D97-AF65-F5344CB8AC3E}">
        <p14:creationId xmlns:p14="http://schemas.microsoft.com/office/powerpoint/2010/main" val="2105057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Prompt engineering and trust controls</a:t>
            </a:r>
          </a:p>
          <a:p>
            <a:endParaRPr lang="en-US"/>
          </a:p>
          <a:p>
            <a:r>
              <a:rPr lang="en-US"/>
              <a:t>The prompt design has two layers. Agent instructions define the role, objective, authoritative evidence, required tool, and decision rules. The per-run stage prompt provides the task, generated output contract, request-specific evidence, and final validation checklist using explicit XML-style boundaries.</a:t>
            </a:r>
          </a:p>
          <a:p>
            <a:endParaRPr lang="en-US"/>
          </a:p>
          <a:p>
            <a:r>
              <a:rPr lang="en-US"/>
              <a:t>These prompts reduce ambiguity, but prompts are not treated as sufficient protection. Deterministic controls verify that requirements are present in source evidence, identifiers are known, values use typed allowlists, relationships map to the correct actions, and all required tool records exist. Invalid model output is discarded and replaced through a validated deterministic fallback.</a:t>
            </a:r>
          </a:p>
          <a:p>
            <a:endParaRPr lang="en-US"/>
          </a:p>
          <a:p>
            <a:r>
              <a:rPr lang="en-US"/>
              <a:t>This defense was strengthened after a convincing-looking but incorrect response rewrote a requirement and referenced an unknown backlog ID. Source comparison exposed the issue. Grounding checks, known-ID validation, typed categories, and negative tests now prevent that class of result from being accepted.</a:t>
            </a:r>
          </a:p>
          <a:p>
            <a:endParaRPr lang="en-US"/>
          </a:p>
          <a:p>
            <a:r>
              <a:rPr lang="en-US"/>
              <a:t>Transition: The next slide shows a representative result and the evidence used to verify alignment.</a:t>
            </a:r>
          </a:p>
        </p:txBody>
      </p:sp>
      <p:sp>
        <p:nvSpPr>
          <p:cNvPr id="4" name="Slide Number Placeholder 3"/>
          <p:cNvSpPr>
            <a:spLocks noGrp="1"/>
          </p:cNvSpPr>
          <p:nvPr>
            <p:ph type="sldNum" sz="quarter" idx="5"/>
          </p:nvPr>
        </p:nvSpPr>
        <p:spPr/>
        <p:txBody>
          <a:bodyPr/>
          <a:lstStyle/>
          <a:p>
            <a:fld id="{0F5DEDF5-4B6A-4336-A58F-DE4D6F5BCC65}" type="slidenum">
              <a:rPr lang="en-US" smtClean="0"/>
              <a:t>5</a:t>
            </a:fld>
            <a:endParaRPr lang="en-US"/>
          </a:p>
        </p:txBody>
      </p:sp>
    </p:spTree>
    <p:extLst>
      <p:ext uri="{BB962C8B-B14F-4D97-AF65-F5344CB8AC3E}">
        <p14:creationId xmlns:p14="http://schemas.microsoft.com/office/powerpoint/2010/main" val="2634949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and verification evidence</a:t>
            </a:r>
          </a:p>
          <a:p>
            <a:endParaRPr lang="en-US"/>
          </a:p>
          <a:p>
            <a:r>
              <a:rPr lang="en-US"/>
              <a:t>This example uses Inventory Application modernization notes and an existing backlog item, BL-201. The source includes an Angular upgrade, reusable Bicep templates, controlled deployment environments, production approval, and test-failure behavior.</a:t>
            </a:r>
          </a:p>
          <a:p>
            <a:endParaRPr lang="en-US"/>
          </a:p>
          <a:p>
            <a:r>
              <a:rPr lang="en-US"/>
              <a:t>The deterministic reference run identified 10 grounded requirements and produced 10 structured stories. The proposal includes acceptance criteria, source locations, priorities, engineering categories, and duplicate, related, or gap decisions. Approval remains required.</a:t>
            </a:r>
          </a:p>
          <a:p>
            <a:endParaRPr lang="en-US"/>
          </a:p>
          <a:p>
            <a:r>
              <a:rPr lang="en-US"/>
              <a:t>Trust is demonstrated through repository evidence rather than a screenshot alone. The specification contains 24 functional requirements. The test suite contains 32 passing tests. The workflow records five ordered tool invocations, and the existing backlog has zero mutations.</a:t>
            </a:r>
          </a:p>
          <a:p>
            <a:endParaRPr lang="en-US"/>
          </a:p>
          <a:p>
            <a:r>
              <a:rPr lang="en-US"/>
              <a:t>One PowerShell command verifies the specification, traceability matrix, code contracts, tests, report links, offline smoke behavior, output files, source locations, human approval, and backlog immutability.</a:t>
            </a:r>
          </a:p>
          <a:p>
            <a:endParaRPr lang="en-US"/>
          </a:p>
          <a:p>
            <a:r>
              <a:rPr lang="en-US"/>
              <a:t>Transition: I will close with the reusable engineering lessons from this case study.</a:t>
            </a:r>
          </a:p>
        </p:txBody>
      </p:sp>
      <p:sp>
        <p:nvSpPr>
          <p:cNvPr id="4" name="Slide Number Placeholder 3"/>
          <p:cNvSpPr>
            <a:spLocks noGrp="1"/>
          </p:cNvSpPr>
          <p:nvPr>
            <p:ph type="sldNum" sz="quarter" idx="5"/>
          </p:nvPr>
        </p:nvSpPr>
        <p:spPr/>
        <p:txBody>
          <a:bodyPr/>
          <a:lstStyle/>
          <a:p>
            <a:fld id="{0F5DEDF5-4B6A-4336-A58F-DE4D6F5BCC65}" type="slidenum">
              <a:rPr lang="en-US" smtClean="0"/>
              <a:t>6</a:t>
            </a:fld>
            <a:endParaRPr lang="en-US"/>
          </a:p>
        </p:txBody>
      </p:sp>
    </p:spTree>
    <p:extLst>
      <p:ext uri="{BB962C8B-B14F-4D97-AF65-F5344CB8AC3E}">
        <p14:creationId xmlns:p14="http://schemas.microsoft.com/office/powerpoint/2010/main" val="583355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message</a:t>
            </a:r>
          </a:p>
          <a:p>
            <a:endParaRPr lang="en-US"/>
          </a:p>
          <a:p>
            <a:r>
              <a:rPr lang="en-US"/>
              <a:t>The engineering value is straightforward: the tool accelerates conversion of fragmented requirements into consistent, review-ready work and helps identify existing coverage and backlog gaps.</a:t>
            </a:r>
          </a:p>
          <a:p>
            <a:endParaRPr lang="en-US"/>
          </a:p>
          <a:p>
            <a:r>
              <a:rPr lang="en-US"/>
              <a:t>The more important lesson is how trust was created. The project started with specifications, grounded model output in evidence, enforced contracts in deterministic code, mapped every functional requirement to tests, and provided a reproducible alignment command.</a:t>
            </a:r>
          </a:p>
          <a:p>
            <a:endParaRPr lang="en-US"/>
          </a:p>
          <a:p>
            <a:r>
              <a:rPr lang="en-US"/>
              <a:t>Human accountability remains explicit. AI proposes work, but a person accepts, revises, or rejects it. The supplied backlog remains read-only, and any future publishing capability would require a separate approved specification.</a:t>
            </a:r>
          </a:p>
          <a:p>
            <a:endParaRPr lang="en-US"/>
          </a:p>
          <a:p>
            <a:r>
              <a:rPr lang="en-US"/>
              <a:t>The reusable pattern is: specifications define intent, AI accelerates interpretation and drafting, deterministic controls enforce safety, tests demonstrate alignment, and humans retain authority.</a:t>
            </a:r>
          </a:p>
          <a:p>
            <a:endParaRPr lang="en-US"/>
          </a:p>
          <a:p>
            <a:r>
              <a:rPr lang="en-US"/>
              <a:t>Closing statement: AI provides acceleration; disciplined engineering provides trust.</a:t>
            </a:r>
          </a:p>
        </p:txBody>
      </p:sp>
      <p:sp>
        <p:nvSpPr>
          <p:cNvPr id="4" name="Slide Number Placeholder 3"/>
          <p:cNvSpPr>
            <a:spLocks noGrp="1"/>
          </p:cNvSpPr>
          <p:nvPr>
            <p:ph type="sldNum" sz="quarter" idx="5"/>
          </p:nvPr>
        </p:nvSpPr>
        <p:spPr/>
        <p:txBody>
          <a:bodyPr/>
          <a:lstStyle/>
          <a:p>
            <a:fld id="{0F5DEDF5-4B6A-4336-A58F-DE4D6F5BCC65}" type="slidenum">
              <a:rPr lang="en-US" smtClean="0"/>
              <a:t>7</a:t>
            </a:fld>
            <a:endParaRPr lang="en-US"/>
          </a:p>
        </p:txBody>
      </p:sp>
    </p:spTree>
    <p:extLst>
      <p:ext uri="{BB962C8B-B14F-4D97-AF65-F5344CB8AC3E}">
        <p14:creationId xmlns:p14="http://schemas.microsoft.com/office/powerpoint/2010/main" val="1937463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9F8F"/>
          </a:solidFill>
          <a:ln>
            <a:solidFill>
              <a:srgbClr val="0F9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594360"/>
            <a:ext cx="1965960" cy="310896"/>
          </a:xfrm>
          <a:prstGeom prst="roundRect">
            <a:avLst>
              <a:gd name="adj" fmla="val 8000"/>
            </a:avLst>
          </a:prstGeom>
          <a:solidFill>
            <a:srgbClr val="0F9F8F"/>
          </a:solidFill>
          <a:ln>
            <a:solidFill>
              <a:srgbClr val="0F9F8F"/>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AI-NATIVE SDLC CASE STUDY</a:t>
            </a:r>
          </a:p>
        </p:txBody>
      </p:sp>
      <p:sp>
        <p:nvSpPr>
          <p:cNvPr id="4" name="TextBox 3"/>
          <p:cNvSpPr txBox="1"/>
          <p:nvPr/>
        </p:nvSpPr>
        <p:spPr>
          <a:xfrm>
            <a:off x="731520" y="1143000"/>
            <a:ext cx="10515600" cy="1051560"/>
          </a:xfrm>
          <a:prstGeom prst="rect">
            <a:avLst/>
          </a:prstGeom>
          <a:noFill/>
        </p:spPr>
        <p:txBody>
          <a:bodyPr wrap="square" lIns="0" tIns="0" rIns="0" bIns="0" anchor="ctr">
            <a:spAutoFit/>
          </a:bodyPr>
          <a:lstStyle/>
          <a:p>
            <a:pPr algn="l"/>
            <a:r>
              <a:rPr sz="4200" b="1">
                <a:solidFill>
                  <a:srgbClr val="FFFFFF"/>
                </a:solidFill>
                <a:latin typeface="Aptos"/>
              </a:rPr>
              <a:t>Smart Backlog Assistant</a:t>
            </a:r>
          </a:p>
        </p:txBody>
      </p:sp>
      <p:sp>
        <p:nvSpPr>
          <p:cNvPr id="5" name="TextBox 4"/>
          <p:cNvSpPr txBox="1"/>
          <p:nvPr/>
        </p:nvSpPr>
        <p:spPr>
          <a:xfrm>
            <a:off x="749808" y="2148840"/>
            <a:ext cx="9875520" cy="502920"/>
          </a:xfrm>
          <a:prstGeom prst="rect">
            <a:avLst/>
          </a:prstGeom>
          <a:noFill/>
        </p:spPr>
        <p:txBody>
          <a:bodyPr wrap="square" lIns="0" tIns="0" rIns="0" bIns="0" anchor="ctr">
            <a:spAutoFit/>
          </a:bodyPr>
          <a:lstStyle/>
          <a:p>
            <a:pPr algn="l"/>
            <a:r>
              <a:rPr sz="2100" b="0">
                <a:solidFill>
                  <a:srgbClr val="C9D8EB"/>
                </a:solidFill>
                <a:latin typeface="Aptos"/>
              </a:rPr>
              <a:t>From unstructured requirements to grounded, review-ready engineering work</a:t>
            </a:r>
          </a:p>
        </p:txBody>
      </p:sp>
      <p:sp>
        <p:nvSpPr>
          <p:cNvPr id="6" name="Rounded Rectangle 5"/>
          <p:cNvSpPr/>
          <p:nvPr/>
        </p:nvSpPr>
        <p:spPr>
          <a:xfrm>
            <a:off x="731520" y="3154680"/>
            <a:ext cx="10698480" cy="1051560"/>
          </a:xfrm>
          <a:prstGeom prst="roundRect">
            <a:avLst>
              <a:gd name="adj" fmla="val 8000"/>
            </a:avLst>
          </a:prstGeom>
          <a:solidFill>
            <a:srgbClr val="122A49"/>
          </a:solidFill>
          <a:ln>
            <a:solidFill>
              <a:srgbClr val="294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3364992"/>
            <a:ext cx="10058400" cy="621792"/>
          </a:xfrm>
          <a:prstGeom prst="rect">
            <a:avLst/>
          </a:prstGeom>
          <a:noFill/>
        </p:spPr>
        <p:txBody>
          <a:bodyPr wrap="square" lIns="0" tIns="0" rIns="0" bIns="0" anchor="ctr">
            <a:spAutoFit/>
          </a:bodyPr>
          <a:lstStyle/>
          <a:p>
            <a:pPr algn="ctr"/>
            <a:r>
              <a:rPr sz="2300" b="1">
                <a:solidFill>
                  <a:srgbClr val="FFFFFF"/>
                </a:solidFill>
                <a:latin typeface="Aptos"/>
              </a:rPr>
              <a:t>AI provides acceleration. Specification-first engineering, validation, and human approval provide trust.</a:t>
            </a:r>
          </a:p>
        </p:txBody>
      </p:sp>
      <p:sp>
        <p:nvSpPr>
          <p:cNvPr id="8" name="Rounded Rectangle 7"/>
          <p:cNvSpPr/>
          <p:nvPr/>
        </p:nvSpPr>
        <p:spPr>
          <a:xfrm>
            <a:off x="731520" y="4773168"/>
            <a:ext cx="2148840" cy="310896"/>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SPECIFICATION FIRST</a:t>
            </a:r>
          </a:p>
        </p:txBody>
      </p:sp>
      <p:sp>
        <p:nvSpPr>
          <p:cNvPr id="9" name="Rounded Rectangle 8"/>
          <p:cNvSpPr/>
          <p:nvPr/>
        </p:nvSpPr>
        <p:spPr>
          <a:xfrm>
            <a:off x="3246120" y="4773168"/>
            <a:ext cx="2148840" cy="310896"/>
          </a:xfrm>
          <a:prstGeom prst="roundRect">
            <a:avLst>
              <a:gd name="adj" fmla="val 8000"/>
            </a:avLst>
          </a:prstGeom>
          <a:solidFill>
            <a:srgbClr val="0F9F8F"/>
          </a:solidFill>
          <a:ln>
            <a:solidFill>
              <a:srgbClr val="0F9F8F"/>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EVIDENCE GROUNDED</a:t>
            </a:r>
          </a:p>
        </p:txBody>
      </p:sp>
      <p:sp>
        <p:nvSpPr>
          <p:cNvPr id="10" name="Rounded Rectangle 9"/>
          <p:cNvSpPr/>
          <p:nvPr/>
        </p:nvSpPr>
        <p:spPr>
          <a:xfrm>
            <a:off x="5897880" y="4773168"/>
            <a:ext cx="2148840" cy="310896"/>
          </a:xfrm>
          <a:prstGeom prst="roundRect">
            <a:avLst>
              <a:gd name="adj" fmla="val 8000"/>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DETERMINISTIC GUARDRAILS</a:t>
            </a:r>
          </a:p>
        </p:txBody>
      </p:sp>
      <p:sp>
        <p:nvSpPr>
          <p:cNvPr id="11" name="Rounded Rectangle 10"/>
          <p:cNvSpPr/>
          <p:nvPr/>
        </p:nvSpPr>
        <p:spPr>
          <a:xfrm>
            <a:off x="9098280" y="4773168"/>
            <a:ext cx="2148840" cy="310896"/>
          </a:xfrm>
          <a:prstGeom prst="roundRect">
            <a:avLst>
              <a:gd name="adj" fmla="val 8000"/>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HUMAN APPROVAL</a:t>
            </a:r>
          </a:p>
        </p:txBody>
      </p:sp>
      <p:sp>
        <p:nvSpPr>
          <p:cNvPr id="12" name="TextBox 11"/>
          <p:cNvSpPr txBox="1"/>
          <p:nvPr/>
        </p:nvSpPr>
        <p:spPr>
          <a:xfrm>
            <a:off x="749808" y="5989320"/>
            <a:ext cx="5760720" cy="274320"/>
          </a:xfrm>
          <a:prstGeom prst="rect">
            <a:avLst/>
          </a:prstGeom>
          <a:noFill/>
        </p:spPr>
        <p:txBody>
          <a:bodyPr wrap="square" lIns="0" tIns="0" rIns="0" bIns="0" anchor="ctr">
            <a:spAutoFit/>
          </a:bodyPr>
          <a:lstStyle/>
          <a:p>
            <a:pPr algn="l"/>
            <a:r>
              <a:rPr sz="1200" b="0">
                <a:solidFill>
                  <a:srgbClr val="9FB3CA"/>
                </a:solidFill>
                <a:latin typeface="Aptos"/>
              </a:rPr>
              <a:t>Practical AI-Enhanced Engineering Solution</a:t>
            </a:r>
          </a:p>
        </p:txBody>
      </p:sp>
      <p:sp>
        <p:nvSpPr>
          <p:cNvPr id="13" name="TextBox 12"/>
          <p:cNvSpPr txBox="1"/>
          <p:nvPr/>
        </p:nvSpPr>
        <p:spPr>
          <a:xfrm>
            <a:off x="8503920" y="5989320"/>
            <a:ext cx="2926080" cy="274320"/>
          </a:xfrm>
          <a:prstGeom prst="rect">
            <a:avLst/>
          </a:prstGeom>
          <a:noFill/>
        </p:spPr>
        <p:txBody>
          <a:bodyPr wrap="square" lIns="0" tIns="0" rIns="0" bIns="0" anchor="ctr">
            <a:spAutoFit/>
          </a:bodyPr>
          <a:lstStyle/>
          <a:p>
            <a:pPr algn="r"/>
            <a:r>
              <a:rPr sz="1200" b="0">
                <a:solidFill>
                  <a:srgbClr val="9FB3CA"/>
                </a:solidFill>
                <a:latin typeface="Aptos"/>
              </a:rPr>
              <a:t>Case study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0607040" cy="411480"/>
          </a:xfrm>
          <a:prstGeom prst="rect">
            <a:avLst/>
          </a:prstGeom>
          <a:noFill/>
        </p:spPr>
        <p:txBody>
          <a:bodyPr wrap="square" lIns="0" tIns="0" rIns="0" bIns="0" anchor="ctr">
            <a:spAutoFit/>
          </a:bodyPr>
          <a:lstStyle/>
          <a:p>
            <a:pPr algn="l"/>
            <a:r>
              <a:rPr sz="2600" b="1">
                <a:solidFill>
                  <a:srgbClr val="0B1F3A"/>
                </a:solidFill>
                <a:latin typeface="Aptos"/>
              </a:rPr>
              <a:t>The engineering problem and opportunity</a:t>
            </a:r>
          </a:p>
        </p:txBody>
      </p:sp>
      <p:sp>
        <p:nvSpPr>
          <p:cNvPr id="3" name="TextBox 2"/>
          <p:cNvSpPr txBox="1"/>
          <p:nvPr/>
        </p:nvSpPr>
        <p:spPr>
          <a:xfrm>
            <a:off x="530352" y="694944"/>
            <a:ext cx="10698480" cy="274320"/>
          </a:xfrm>
          <a:prstGeom prst="rect">
            <a:avLst/>
          </a:prstGeom>
          <a:noFill/>
        </p:spPr>
        <p:txBody>
          <a:bodyPr wrap="square" lIns="0" tIns="0" rIns="0" bIns="0" anchor="ctr">
            <a:spAutoFit/>
          </a:bodyPr>
          <a:lstStyle/>
          <a:p>
            <a:pPr algn="l"/>
            <a:r>
              <a:rPr sz="1100" b="0">
                <a:solidFill>
                  <a:srgbClr val="5B6675"/>
                </a:solidFill>
                <a:latin typeface="Aptos"/>
              </a:rPr>
              <a:t>Convert fragmented requirements into consistent, traceable backlog proposals.</a:t>
            </a:r>
          </a:p>
        </p:txBody>
      </p:sp>
      <p:sp>
        <p:nvSpPr>
          <p:cNvPr id="4" name="Rounded Rectangle 3"/>
          <p:cNvSpPr/>
          <p:nvPr/>
        </p:nvSpPr>
        <p:spPr>
          <a:xfrm>
            <a:off x="11292840" y="256032"/>
            <a:ext cx="384048" cy="384048"/>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Aptos"/>
              </a:rPr>
              <a:t>2</a:t>
            </a:r>
          </a:p>
        </p:txBody>
      </p:sp>
      <p:sp>
        <p:nvSpPr>
          <p:cNvPr id="5" name="Rectangle 4"/>
          <p:cNvSpPr/>
          <p:nvPr/>
        </p:nvSpPr>
        <p:spPr>
          <a:xfrm>
            <a:off x="502920" y="1024128"/>
            <a:ext cx="11201400" cy="22860"/>
          </a:xfrm>
          <a:prstGeom prst="rect">
            <a:avLst/>
          </a:prstGeom>
          <a:solidFill>
            <a:srgbClr val="D8E0EA"/>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325880"/>
            <a:ext cx="3657600" cy="452628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256032" tIns="256032" rIns="256032" bIns="256032" rtlCol="0" anchor="t"/>
          <a:lstStyle/>
          <a:p>
            <a:pPr algn="l">
              <a:spcAft>
                <a:spcPts val="500"/>
              </a:spcAft>
            </a:pPr>
            <a:r>
              <a:rPr sz="1200" b="1">
                <a:solidFill>
                  <a:srgbClr val="DC2626"/>
                </a:solidFill>
                <a:latin typeface="Aptos"/>
              </a:rPr>
              <a:t>THE PROBLEM</a:t>
            </a:r>
          </a:p>
          <a:p>
            <a:pPr algn="l">
              <a:spcAft>
                <a:spcPts val="1600"/>
              </a:spcAft>
            </a:pPr>
            <a:r>
              <a:rPr sz="2200" b="1">
                <a:solidFill>
                  <a:srgbClr val="0B1F3A"/>
                </a:solidFill>
                <a:latin typeface="Aptos"/>
              </a:rPr>
              <a:t>Requirements arrive as meeting notes, text, and PDFs.</a:t>
            </a:r>
          </a:p>
          <a:p>
            <a:pPr algn="l">
              <a:spcAft>
                <a:spcPts val="500"/>
              </a:spcAft>
            </a:pPr>
            <a:r>
              <a:rPr sz="1500" b="0">
                <a:solidFill>
                  <a:srgbClr val="182230"/>
                </a:solidFill>
                <a:latin typeface="Aptos"/>
              </a:rPr>
              <a:t>● Missed constraints and approvals</a:t>
            </a:r>
          </a:p>
          <a:p>
            <a:pPr algn="l">
              <a:spcAft>
                <a:spcPts val="500"/>
              </a:spcAft>
            </a:pPr>
            <a:r>
              <a:rPr sz="1500" b="0">
                <a:solidFill>
                  <a:srgbClr val="182230"/>
                </a:solidFill>
                <a:latin typeface="Aptos"/>
              </a:rPr>
              <a:t>● Duplicate or overlapping backlog work</a:t>
            </a:r>
          </a:p>
          <a:p>
            <a:pPr algn="l">
              <a:spcAft>
                <a:spcPts val="500"/>
              </a:spcAft>
            </a:pPr>
            <a:r>
              <a:rPr sz="1500" b="0">
                <a:solidFill>
                  <a:srgbClr val="182230"/>
                </a:solidFill>
                <a:latin typeface="Aptos"/>
              </a:rPr>
              <a:t>● Vague, untestable user stories</a:t>
            </a:r>
          </a:p>
          <a:p>
            <a:pPr algn="l">
              <a:spcAft>
                <a:spcPts val="500"/>
              </a:spcAft>
            </a:pPr>
            <a:r>
              <a:rPr sz="1500" b="0">
                <a:solidFill>
                  <a:srgbClr val="182230"/>
                </a:solidFill>
                <a:latin typeface="Aptos"/>
              </a:rPr>
              <a:t>● Unsupported AI assumptions</a:t>
            </a:r>
          </a:p>
          <a:p>
            <a:pPr algn="l">
              <a:spcAft>
                <a:spcPts val="0"/>
              </a:spcAft>
            </a:pPr>
            <a:r>
              <a:rPr sz="1400" b="1">
                <a:solidFill>
                  <a:srgbClr val="DC2626"/>
                </a:solidFill>
                <a:latin typeface="Aptos"/>
              </a:rPr>
              <a:t>Manual interpretation is slow; unconstrained automation is unsafe.</a:t>
            </a:r>
          </a:p>
        </p:txBody>
      </p:sp>
      <p:sp>
        <p:nvSpPr>
          <p:cNvPr id="7" name="TextBox 6"/>
          <p:cNvSpPr txBox="1"/>
          <p:nvPr/>
        </p:nvSpPr>
        <p:spPr>
          <a:xfrm>
            <a:off x="4617720" y="1307592"/>
            <a:ext cx="6766560" cy="320040"/>
          </a:xfrm>
          <a:prstGeom prst="rect">
            <a:avLst/>
          </a:prstGeom>
          <a:noFill/>
        </p:spPr>
        <p:txBody>
          <a:bodyPr wrap="square" lIns="0" tIns="0" rIns="0" bIns="0" anchor="ctr">
            <a:spAutoFit/>
          </a:bodyPr>
          <a:lstStyle/>
          <a:p>
            <a:pPr algn="l"/>
            <a:r>
              <a:rPr sz="1200" b="1">
                <a:solidFill>
                  <a:srgbClr val="2563EB"/>
                </a:solidFill>
                <a:latin typeface="Aptos"/>
              </a:rPr>
              <a:t>THREE PRACTICAL USE CASES</a:t>
            </a:r>
          </a:p>
        </p:txBody>
      </p:sp>
      <p:sp>
        <p:nvSpPr>
          <p:cNvPr id="8" name="Rounded Rectangle 7"/>
          <p:cNvSpPr/>
          <p:nvPr/>
        </p:nvSpPr>
        <p:spPr>
          <a:xfrm>
            <a:off x="4617720" y="1737360"/>
            <a:ext cx="6720840" cy="896112"/>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800600" y="1911095"/>
            <a:ext cx="530352" cy="530352"/>
          </a:xfrm>
          <a:prstGeom prst="ellipse">
            <a:avLst/>
          </a:prstGeom>
          <a:solidFill>
            <a:srgbClr val="DBEAFE"/>
          </a:solidFill>
          <a:ln>
            <a:solidFill>
              <a:srgbClr val="DBEAFE"/>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2563EB"/>
                </a:solidFill>
                <a:latin typeface="Aptos"/>
              </a:rPr>
              <a:t>1</a:t>
            </a:r>
          </a:p>
        </p:txBody>
      </p:sp>
      <p:sp>
        <p:nvSpPr>
          <p:cNvPr id="10" name="TextBox 9"/>
          <p:cNvSpPr txBox="1"/>
          <p:nvPr/>
        </p:nvSpPr>
        <p:spPr>
          <a:xfrm>
            <a:off x="5513832" y="1865376"/>
            <a:ext cx="2468880" cy="256032"/>
          </a:xfrm>
          <a:prstGeom prst="rect">
            <a:avLst/>
          </a:prstGeom>
          <a:noFill/>
        </p:spPr>
        <p:txBody>
          <a:bodyPr wrap="square" lIns="0" tIns="0" rIns="0" bIns="0" anchor="ctr">
            <a:spAutoFit/>
          </a:bodyPr>
          <a:lstStyle/>
          <a:p>
            <a:pPr algn="l"/>
            <a:r>
              <a:rPr sz="1600" b="1">
                <a:solidFill>
                  <a:srgbClr val="0B1F3A"/>
                </a:solidFill>
                <a:latin typeface="Aptos"/>
              </a:rPr>
              <a:t>Structure requirements</a:t>
            </a:r>
          </a:p>
        </p:txBody>
      </p:sp>
      <p:sp>
        <p:nvSpPr>
          <p:cNvPr id="11" name="TextBox 10"/>
          <p:cNvSpPr txBox="1"/>
          <p:nvPr/>
        </p:nvSpPr>
        <p:spPr>
          <a:xfrm>
            <a:off x="5513832" y="2176272"/>
            <a:ext cx="5532120" cy="274320"/>
          </a:xfrm>
          <a:prstGeom prst="rect">
            <a:avLst/>
          </a:prstGeom>
          <a:noFill/>
        </p:spPr>
        <p:txBody>
          <a:bodyPr wrap="square" lIns="0" tIns="0" rIns="0" bIns="0" anchor="ctr">
            <a:spAutoFit/>
          </a:bodyPr>
          <a:lstStyle/>
          <a:p>
            <a:pPr algn="l"/>
            <a:r>
              <a:rPr sz="1200" b="0">
                <a:solidFill>
                  <a:srgbClr val="5B6675"/>
                </a:solidFill>
                <a:latin typeface="Aptos"/>
              </a:rPr>
              <a:t>Extract atomic requirements from notes, text, Markdown, or PDF.</a:t>
            </a:r>
          </a:p>
        </p:txBody>
      </p:sp>
      <p:sp>
        <p:nvSpPr>
          <p:cNvPr id="12" name="Rounded Rectangle 11"/>
          <p:cNvSpPr/>
          <p:nvPr/>
        </p:nvSpPr>
        <p:spPr>
          <a:xfrm>
            <a:off x="4617720" y="2816352"/>
            <a:ext cx="6720840" cy="896112"/>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00600" y="2990088"/>
            <a:ext cx="530352" cy="530352"/>
          </a:xfrm>
          <a:prstGeom prst="ellipse">
            <a:avLst/>
          </a:prstGeom>
          <a:solidFill>
            <a:srgbClr val="CCFBF1"/>
          </a:solidFill>
          <a:ln>
            <a:solidFill>
              <a:srgbClr val="CCFBF1"/>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0F9F8F"/>
                </a:solidFill>
                <a:latin typeface="Aptos"/>
              </a:rPr>
              <a:t>2</a:t>
            </a:r>
          </a:p>
        </p:txBody>
      </p:sp>
      <p:sp>
        <p:nvSpPr>
          <p:cNvPr id="14" name="TextBox 13"/>
          <p:cNvSpPr txBox="1"/>
          <p:nvPr/>
        </p:nvSpPr>
        <p:spPr>
          <a:xfrm>
            <a:off x="5513832" y="2944368"/>
            <a:ext cx="2468880" cy="256032"/>
          </a:xfrm>
          <a:prstGeom prst="rect">
            <a:avLst/>
          </a:prstGeom>
          <a:noFill/>
        </p:spPr>
        <p:txBody>
          <a:bodyPr wrap="square" lIns="0" tIns="0" rIns="0" bIns="0" anchor="ctr">
            <a:spAutoFit/>
          </a:bodyPr>
          <a:lstStyle/>
          <a:p>
            <a:pPr algn="l"/>
            <a:r>
              <a:rPr sz="1600" b="1">
                <a:solidFill>
                  <a:srgbClr val="0B1F3A"/>
                </a:solidFill>
                <a:latin typeface="Aptos"/>
              </a:rPr>
              <a:t>Compare existing work</a:t>
            </a:r>
          </a:p>
        </p:txBody>
      </p:sp>
      <p:sp>
        <p:nvSpPr>
          <p:cNvPr id="15" name="TextBox 14"/>
          <p:cNvSpPr txBox="1"/>
          <p:nvPr/>
        </p:nvSpPr>
        <p:spPr>
          <a:xfrm>
            <a:off x="5513832" y="3255264"/>
            <a:ext cx="5532120" cy="274320"/>
          </a:xfrm>
          <a:prstGeom prst="rect">
            <a:avLst/>
          </a:prstGeom>
          <a:noFill/>
        </p:spPr>
        <p:txBody>
          <a:bodyPr wrap="square" lIns="0" tIns="0" rIns="0" bIns="0" anchor="ctr">
            <a:spAutoFit/>
          </a:bodyPr>
          <a:lstStyle/>
          <a:p>
            <a:pPr algn="l"/>
            <a:r>
              <a:rPr sz="1200" b="0">
                <a:solidFill>
                  <a:srgbClr val="5B6675"/>
                </a:solidFill>
                <a:latin typeface="Aptos"/>
              </a:rPr>
              <a:t>Identify duplicate, related, and missing backlog items.</a:t>
            </a:r>
          </a:p>
        </p:txBody>
      </p:sp>
      <p:sp>
        <p:nvSpPr>
          <p:cNvPr id="16" name="Rounded Rectangle 15"/>
          <p:cNvSpPr/>
          <p:nvPr/>
        </p:nvSpPr>
        <p:spPr>
          <a:xfrm>
            <a:off x="4617720" y="3895344"/>
            <a:ext cx="6720840" cy="896112"/>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800600" y="4069080"/>
            <a:ext cx="530352" cy="530352"/>
          </a:xfrm>
          <a:prstGeom prst="ellipse">
            <a:avLst/>
          </a:prstGeom>
          <a:solidFill>
            <a:srgbClr val="FEF3C7"/>
          </a:solidFill>
          <a:ln>
            <a:solidFill>
              <a:srgbClr val="FEF3C7"/>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59E0B"/>
                </a:solidFill>
                <a:latin typeface="Aptos"/>
              </a:rPr>
              <a:t>3</a:t>
            </a:r>
          </a:p>
        </p:txBody>
      </p:sp>
      <p:sp>
        <p:nvSpPr>
          <p:cNvPr id="18" name="TextBox 17"/>
          <p:cNvSpPr txBox="1"/>
          <p:nvPr/>
        </p:nvSpPr>
        <p:spPr>
          <a:xfrm>
            <a:off x="5513832" y="4023359"/>
            <a:ext cx="2468880" cy="256032"/>
          </a:xfrm>
          <a:prstGeom prst="rect">
            <a:avLst/>
          </a:prstGeom>
          <a:noFill/>
        </p:spPr>
        <p:txBody>
          <a:bodyPr wrap="square" lIns="0" tIns="0" rIns="0" bIns="0" anchor="ctr">
            <a:spAutoFit/>
          </a:bodyPr>
          <a:lstStyle/>
          <a:p>
            <a:pPr algn="l"/>
            <a:r>
              <a:rPr sz="1600" b="1">
                <a:solidFill>
                  <a:srgbClr val="0B1F3A"/>
                </a:solidFill>
                <a:latin typeface="Aptos"/>
              </a:rPr>
              <a:t>Prepare review-ready output</a:t>
            </a:r>
          </a:p>
        </p:txBody>
      </p:sp>
      <p:sp>
        <p:nvSpPr>
          <p:cNvPr id="19" name="TextBox 18"/>
          <p:cNvSpPr txBox="1"/>
          <p:nvPr/>
        </p:nvSpPr>
        <p:spPr>
          <a:xfrm>
            <a:off x="5513832" y="4334256"/>
            <a:ext cx="5532120" cy="274320"/>
          </a:xfrm>
          <a:prstGeom prst="rect">
            <a:avLst/>
          </a:prstGeom>
          <a:noFill/>
        </p:spPr>
        <p:txBody>
          <a:bodyPr wrap="square" lIns="0" tIns="0" rIns="0" bIns="0" anchor="ctr">
            <a:spAutoFit/>
          </a:bodyPr>
          <a:lstStyle/>
          <a:p>
            <a:pPr algn="l"/>
            <a:r>
              <a:rPr sz="1200" b="0">
                <a:solidFill>
                  <a:srgbClr val="5B6675"/>
                </a:solidFill>
                <a:latin typeface="Aptos"/>
              </a:rPr>
              <a:t>Generate stories, acceptance criteria, priority, category, and traceability.</a:t>
            </a:r>
          </a:p>
        </p:txBody>
      </p:sp>
      <p:sp>
        <p:nvSpPr>
          <p:cNvPr id="20" name="Rounded Rectangle 19"/>
          <p:cNvSpPr/>
          <p:nvPr/>
        </p:nvSpPr>
        <p:spPr>
          <a:xfrm>
            <a:off x="4617720" y="5138928"/>
            <a:ext cx="6720840" cy="713232"/>
          </a:xfrm>
          <a:prstGeom prst="roundRect">
            <a:avLst>
              <a:gd name="adj" fmla="val 8000"/>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28032" y="5285232"/>
            <a:ext cx="6309360" cy="365760"/>
          </a:xfrm>
          <a:prstGeom prst="rect">
            <a:avLst/>
          </a:prstGeom>
          <a:noFill/>
        </p:spPr>
        <p:txBody>
          <a:bodyPr wrap="square" lIns="0" tIns="0" rIns="0" bIns="0" anchor="ctr">
            <a:spAutoFit/>
          </a:bodyPr>
          <a:lstStyle/>
          <a:p>
            <a:pPr algn="ctr"/>
            <a:r>
              <a:rPr sz="1500" b="1">
                <a:solidFill>
                  <a:srgbClr val="FFFFFF"/>
                </a:solidFill>
                <a:latin typeface="Aptos"/>
              </a:rPr>
              <a:t>Outcome: structured proposals for human review - never automatic publishing</a:t>
            </a:r>
          </a:p>
        </p:txBody>
      </p:sp>
      <p:sp>
        <p:nvSpPr>
          <p:cNvPr id="22" name="TextBox 21"/>
          <p:cNvSpPr txBox="1"/>
          <p:nvPr/>
        </p:nvSpPr>
        <p:spPr>
          <a:xfrm>
            <a:off x="502920" y="6565392"/>
            <a:ext cx="7498079" cy="164592"/>
          </a:xfrm>
          <a:prstGeom prst="rect">
            <a:avLst/>
          </a:prstGeom>
          <a:noFill/>
        </p:spPr>
        <p:txBody>
          <a:bodyPr wrap="square" lIns="0" tIns="0" rIns="0" bIns="0" anchor="ctr">
            <a:spAutoFit/>
          </a:bodyPr>
          <a:lstStyle/>
          <a:p>
            <a:pPr algn="l"/>
            <a:r>
              <a:rPr sz="800" b="0">
                <a:solidFill>
                  <a:srgbClr val="5B6675"/>
                </a:solidFill>
                <a:latin typeface="Aptos"/>
              </a:rPr>
              <a:t>Smart Backlog Assistant | AI-native SDLC case study</a:t>
            </a:r>
          </a:p>
        </p:txBody>
      </p:sp>
      <p:sp>
        <p:nvSpPr>
          <p:cNvPr id="23" name="TextBox 22"/>
          <p:cNvSpPr txBox="1"/>
          <p:nvPr/>
        </p:nvSpPr>
        <p:spPr>
          <a:xfrm>
            <a:off x="9692640" y="6565392"/>
            <a:ext cx="2011680" cy="164592"/>
          </a:xfrm>
          <a:prstGeom prst="rect">
            <a:avLst/>
          </a:prstGeom>
          <a:noFill/>
        </p:spPr>
        <p:txBody>
          <a:bodyPr wrap="square" lIns="0" tIns="0" rIns="0" bIns="0" anchor="ctr">
            <a:spAutoFit/>
          </a:bodyPr>
          <a:lstStyle/>
          <a:p>
            <a:pPr algn="r"/>
            <a:r>
              <a:rPr sz="800" b="0">
                <a:solidFill>
                  <a:srgbClr val="2563EB"/>
                </a:solidFill>
                <a:latin typeface="Aptos"/>
              </a:rPr>
              <a:t>github.com/sjnoolkar-accenture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0607040" cy="411480"/>
          </a:xfrm>
          <a:prstGeom prst="rect">
            <a:avLst/>
          </a:prstGeom>
          <a:noFill/>
        </p:spPr>
        <p:txBody>
          <a:bodyPr wrap="square" lIns="0" tIns="0" rIns="0" bIns="0" anchor="ctr">
            <a:spAutoFit/>
          </a:bodyPr>
          <a:lstStyle/>
          <a:p>
            <a:pPr algn="l"/>
            <a:r>
              <a:rPr sz="2600" b="1">
                <a:solidFill>
                  <a:srgbClr val="0B1F3A"/>
                </a:solidFill>
                <a:latin typeface="Aptos"/>
              </a:rPr>
              <a:t>Specification-first, AI-assisted delivery</a:t>
            </a:r>
          </a:p>
        </p:txBody>
      </p:sp>
      <p:sp>
        <p:nvSpPr>
          <p:cNvPr id="3" name="TextBox 2"/>
          <p:cNvSpPr txBox="1"/>
          <p:nvPr/>
        </p:nvSpPr>
        <p:spPr>
          <a:xfrm>
            <a:off x="530352" y="694944"/>
            <a:ext cx="10698480" cy="274320"/>
          </a:xfrm>
          <a:prstGeom prst="rect">
            <a:avLst/>
          </a:prstGeom>
          <a:noFill/>
        </p:spPr>
        <p:txBody>
          <a:bodyPr wrap="square" lIns="0" tIns="0" rIns="0" bIns="0" anchor="ctr">
            <a:spAutoFit/>
          </a:bodyPr>
          <a:lstStyle/>
          <a:p>
            <a:pPr algn="l"/>
            <a:r>
              <a:rPr sz="1100" b="0">
                <a:solidFill>
                  <a:srgbClr val="5B6675"/>
                </a:solidFill>
                <a:latin typeface="Aptos"/>
              </a:rPr>
              <a:t>Spec Kit established the design foundation before implementation began.</a:t>
            </a:r>
          </a:p>
        </p:txBody>
      </p:sp>
      <p:sp>
        <p:nvSpPr>
          <p:cNvPr id="4" name="Rounded Rectangle 3"/>
          <p:cNvSpPr/>
          <p:nvPr/>
        </p:nvSpPr>
        <p:spPr>
          <a:xfrm>
            <a:off x="11292840" y="256032"/>
            <a:ext cx="384048" cy="384048"/>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Aptos"/>
              </a:rPr>
              <a:t>3</a:t>
            </a:r>
          </a:p>
        </p:txBody>
      </p:sp>
      <p:sp>
        <p:nvSpPr>
          <p:cNvPr id="5" name="Rectangle 4"/>
          <p:cNvSpPr/>
          <p:nvPr/>
        </p:nvSpPr>
        <p:spPr>
          <a:xfrm>
            <a:off x="502920" y="1024128"/>
            <a:ext cx="11201400" cy="22860"/>
          </a:xfrm>
          <a:prstGeom prst="rect">
            <a:avLst/>
          </a:prstGeom>
          <a:solidFill>
            <a:srgbClr val="D8E0EA"/>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1901952" y="3063240"/>
            <a:ext cx="292608" cy="0"/>
          </a:xfrm>
          <a:prstGeom prst="line">
            <a:avLst/>
          </a:prstGeom>
          <a:ln w="19050">
            <a:solidFill>
              <a:srgbClr val="AAB6C5"/>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69264" y="1600200"/>
            <a:ext cx="548640" cy="548640"/>
          </a:xfrm>
          <a:prstGeom prst="ellipse">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Aptos"/>
              </a:rPr>
              <a:t>1</a:t>
            </a:r>
          </a:p>
        </p:txBody>
      </p:sp>
      <p:sp>
        <p:nvSpPr>
          <p:cNvPr id="8" name="TextBox 7"/>
          <p:cNvSpPr txBox="1"/>
          <p:nvPr/>
        </p:nvSpPr>
        <p:spPr>
          <a:xfrm>
            <a:off x="530352" y="2286000"/>
            <a:ext cx="1417320" cy="411480"/>
          </a:xfrm>
          <a:prstGeom prst="rect">
            <a:avLst/>
          </a:prstGeom>
          <a:noFill/>
        </p:spPr>
        <p:txBody>
          <a:bodyPr wrap="square" lIns="0" tIns="0" rIns="0" bIns="0" anchor="ctr">
            <a:spAutoFit/>
          </a:bodyPr>
          <a:lstStyle/>
          <a:p>
            <a:pPr algn="ctr"/>
            <a:r>
              <a:rPr sz="1400" b="1">
                <a:solidFill>
                  <a:srgbClr val="0B1F3A"/>
                </a:solidFill>
                <a:latin typeface="Aptos"/>
              </a:rPr>
              <a:t>Problem</a:t>
            </a:r>
          </a:p>
        </p:txBody>
      </p:sp>
      <p:sp>
        <p:nvSpPr>
          <p:cNvPr id="9" name="Rounded Rectangle 8"/>
          <p:cNvSpPr/>
          <p:nvPr/>
        </p:nvSpPr>
        <p:spPr>
          <a:xfrm>
            <a:off x="530352" y="2788920"/>
            <a:ext cx="1417320" cy="114300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r>
              <a:rPr sz="1200" b="0">
                <a:solidFill>
                  <a:srgbClr val="5B6675"/>
                </a:solidFill>
                <a:latin typeface="Aptos"/>
              </a:rPr>
              <a:t>Use cases
and risks</a:t>
            </a:r>
          </a:p>
        </p:txBody>
      </p:sp>
      <p:cxnSp>
        <p:nvCxnSpPr>
          <p:cNvPr id="10" name="Connector 9"/>
          <p:cNvCxnSpPr/>
          <p:nvPr/>
        </p:nvCxnSpPr>
        <p:spPr>
          <a:xfrm>
            <a:off x="3529584" y="3063240"/>
            <a:ext cx="292607" cy="0"/>
          </a:xfrm>
          <a:prstGeom prst="line">
            <a:avLst/>
          </a:prstGeom>
          <a:ln w="19050">
            <a:solidFill>
              <a:srgbClr val="AAB6C5"/>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596896" y="1600200"/>
            <a:ext cx="548640" cy="548640"/>
          </a:xfrm>
          <a:prstGeom prst="ellipse">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Aptos"/>
              </a:rPr>
              <a:t>2</a:t>
            </a:r>
          </a:p>
        </p:txBody>
      </p:sp>
      <p:sp>
        <p:nvSpPr>
          <p:cNvPr id="12" name="TextBox 11"/>
          <p:cNvSpPr txBox="1"/>
          <p:nvPr/>
        </p:nvSpPr>
        <p:spPr>
          <a:xfrm>
            <a:off x="2157984" y="2286000"/>
            <a:ext cx="1417320" cy="411480"/>
          </a:xfrm>
          <a:prstGeom prst="rect">
            <a:avLst/>
          </a:prstGeom>
          <a:noFill/>
        </p:spPr>
        <p:txBody>
          <a:bodyPr wrap="square" lIns="0" tIns="0" rIns="0" bIns="0" anchor="ctr">
            <a:spAutoFit/>
          </a:bodyPr>
          <a:lstStyle/>
          <a:p>
            <a:pPr algn="ctr"/>
            <a:r>
              <a:rPr sz="1400" b="1">
                <a:solidFill>
                  <a:srgbClr val="0B1F3A"/>
                </a:solidFill>
                <a:latin typeface="Aptos"/>
              </a:rPr>
              <a:t>Constitution</a:t>
            </a:r>
          </a:p>
        </p:txBody>
      </p:sp>
      <p:sp>
        <p:nvSpPr>
          <p:cNvPr id="13" name="Rounded Rectangle 12"/>
          <p:cNvSpPr/>
          <p:nvPr/>
        </p:nvSpPr>
        <p:spPr>
          <a:xfrm>
            <a:off x="2157984" y="2788920"/>
            <a:ext cx="1417320" cy="114300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r>
              <a:rPr sz="1200" b="0">
                <a:solidFill>
                  <a:srgbClr val="5B6675"/>
                </a:solidFill>
                <a:latin typeface="Aptos"/>
              </a:rPr>
              <a:t>Evidence, safety,
governance</a:t>
            </a:r>
          </a:p>
        </p:txBody>
      </p:sp>
      <p:cxnSp>
        <p:nvCxnSpPr>
          <p:cNvPr id="14" name="Connector 13"/>
          <p:cNvCxnSpPr/>
          <p:nvPr/>
        </p:nvCxnSpPr>
        <p:spPr>
          <a:xfrm>
            <a:off x="5157216" y="3063240"/>
            <a:ext cx="292608" cy="0"/>
          </a:xfrm>
          <a:prstGeom prst="line">
            <a:avLst/>
          </a:prstGeom>
          <a:ln w="19050">
            <a:solidFill>
              <a:srgbClr val="AAB6C5"/>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224527" y="1600200"/>
            <a:ext cx="548640" cy="548640"/>
          </a:xfrm>
          <a:prstGeom prst="ellipse">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Aptos"/>
              </a:rPr>
              <a:t>3</a:t>
            </a:r>
          </a:p>
        </p:txBody>
      </p:sp>
      <p:sp>
        <p:nvSpPr>
          <p:cNvPr id="16" name="TextBox 15"/>
          <p:cNvSpPr txBox="1"/>
          <p:nvPr/>
        </p:nvSpPr>
        <p:spPr>
          <a:xfrm>
            <a:off x="3785615" y="2286000"/>
            <a:ext cx="1417320" cy="411480"/>
          </a:xfrm>
          <a:prstGeom prst="rect">
            <a:avLst/>
          </a:prstGeom>
          <a:noFill/>
        </p:spPr>
        <p:txBody>
          <a:bodyPr wrap="square" lIns="0" tIns="0" rIns="0" bIns="0" anchor="ctr">
            <a:spAutoFit/>
          </a:bodyPr>
          <a:lstStyle/>
          <a:p>
            <a:pPr algn="ctr"/>
            <a:r>
              <a:rPr sz="1400" b="1">
                <a:solidFill>
                  <a:srgbClr val="0B1F3A"/>
                </a:solidFill>
                <a:latin typeface="Aptos"/>
              </a:rPr>
              <a:t>Specification</a:t>
            </a:r>
          </a:p>
        </p:txBody>
      </p:sp>
      <p:sp>
        <p:nvSpPr>
          <p:cNvPr id="17" name="Rounded Rectangle 16"/>
          <p:cNvSpPr/>
          <p:nvPr/>
        </p:nvSpPr>
        <p:spPr>
          <a:xfrm>
            <a:off x="3785615" y="2788920"/>
            <a:ext cx="1417320" cy="114300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r>
              <a:rPr sz="1200" b="0">
                <a:solidFill>
                  <a:srgbClr val="5B6675"/>
                </a:solidFill>
                <a:latin typeface="Aptos"/>
              </a:rPr>
              <a:t>24 functional
requirements</a:t>
            </a:r>
          </a:p>
        </p:txBody>
      </p:sp>
      <p:cxnSp>
        <p:nvCxnSpPr>
          <p:cNvPr id="18" name="Connector 17"/>
          <p:cNvCxnSpPr/>
          <p:nvPr/>
        </p:nvCxnSpPr>
        <p:spPr>
          <a:xfrm>
            <a:off x="6784848" y="3063240"/>
            <a:ext cx="292608" cy="0"/>
          </a:xfrm>
          <a:prstGeom prst="line">
            <a:avLst/>
          </a:prstGeom>
          <a:ln w="19050">
            <a:solidFill>
              <a:srgbClr val="AAB6C5"/>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852160" y="1600200"/>
            <a:ext cx="548640" cy="548640"/>
          </a:xfrm>
          <a:prstGeom prst="ellipse">
            <a:avLst/>
          </a:prstGeom>
          <a:solidFill>
            <a:srgbClr val="0F9F8F"/>
          </a:solidFill>
          <a:ln>
            <a:solidFill>
              <a:srgbClr val="0F9F8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Aptos"/>
              </a:rPr>
              <a:t>4</a:t>
            </a:r>
          </a:p>
        </p:txBody>
      </p:sp>
      <p:sp>
        <p:nvSpPr>
          <p:cNvPr id="20" name="TextBox 19"/>
          <p:cNvSpPr txBox="1"/>
          <p:nvPr/>
        </p:nvSpPr>
        <p:spPr>
          <a:xfrm>
            <a:off x="5413248" y="2286000"/>
            <a:ext cx="1417320" cy="411480"/>
          </a:xfrm>
          <a:prstGeom prst="rect">
            <a:avLst/>
          </a:prstGeom>
          <a:noFill/>
        </p:spPr>
        <p:txBody>
          <a:bodyPr wrap="square" lIns="0" tIns="0" rIns="0" bIns="0" anchor="ctr">
            <a:spAutoFit/>
          </a:bodyPr>
          <a:lstStyle/>
          <a:p>
            <a:pPr algn="ctr"/>
            <a:r>
              <a:rPr sz="1400" b="1">
                <a:solidFill>
                  <a:srgbClr val="0B1F3A"/>
                </a:solidFill>
                <a:latin typeface="Aptos"/>
              </a:rPr>
              <a:t>Design</a:t>
            </a:r>
          </a:p>
        </p:txBody>
      </p:sp>
      <p:sp>
        <p:nvSpPr>
          <p:cNvPr id="21" name="Rounded Rectangle 20"/>
          <p:cNvSpPr/>
          <p:nvPr/>
        </p:nvSpPr>
        <p:spPr>
          <a:xfrm>
            <a:off x="5413248" y="2788920"/>
            <a:ext cx="1417320" cy="114300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r>
              <a:rPr sz="1200" b="0">
                <a:solidFill>
                  <a:srgbClr val="5B6675"/>
                </a:solidFill>
                <a:latin typeface="Aptos"/>
              </a:rPr>
              <a:t>Architecture,
contracts, tasks</a:t>
            </a:r>
          </a:p>
        </p:txBody>
      </p:sp>
      <p:cxnSp>
        <p:nvCxnSpPr>
          <p:cNvPr id="22" name="Connector 21"/>
          <p:cNvCxnSpPr/>
          <p:nvPr/>
        </p:nvCxnSpPr>
        <p:spPr>
          <a:xfrm>
            <a:off x="8412480" y="3063240"/>
            <a:ext cx="292608" cy="0"/>
          </a:xfrm>
          <a:prstGeom prst="line">
            <a:avLst/>
          </a:prstGeom>
          <a:ln w="19050">
            <a:solidFill>
              <a:srgbClr val="AAB6C5"/>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479792" y="1600200"/>
            <a:ext cx="548640" cy="548640"/>
          </a:xfrm>
          <a:prstGeom prst="ellipse">
            <a:avLst/>
          </a:prstGeom>
          <a:solidFill>
            <a:srgbClr val="0F9F8F"/>
          </a:solidFill>
          <a:ln>
            <a:solidFill>
              <a:srgbClr val="0F9F8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Aptos"/>
              </a:rPr>
              <a:t>5</a:t>
            </a:r>
          </a:p>
        </p:txBody>
      </p:sp>
      <p:sp>
        <p:nvSpPr>
          <p:cNvPr id="24" name="TextBox 23"/>
          <p:cNvSpPr txBox="1"/>
          <p:nvPr/>
        </p:nvSpPr>
        <p:spPr>
          <a:xfrm>
            <a:off x="7040880" y="2286000"/>
            <a:ext cx="1417320" cy="411480"/>
          </a:xfrm>
          <a:prstGeom prst="rect">
            <a:avLst/>
          </a:prstGeom>
          <a:noFill/>
        </p:spPr>
        <p:txBody>
          <a:bodyPr wrap="square" lIns="0" tIns="0" rIns="0" bIns="0" anchor="ctr">
            <a:spAutoFit/>
          </a:bodyPr>
          <a:lstStyle/>
          <a:p>
            <a:pPr algn="ctr"/>
            <a:r>
              <a:rPr sz="1400" b="1">
                <a:solidFill>
                  <a:srgbClr val="0B1F3A"/>
                </a:solidFill>
                <a:latin typeface="Aptos"/>
              </a:rPr>
              <a:t>Implementation</a:t>
            </a:r>
          </a:p>
        </p:txBody>
      </p:sp>
      <p:sp>
        <p:nvSpPr>
          <p:cNvPr id="25" name="Rounded Rectangle 24"/>
          <p:cNvSpPr/>
          <p:nvPr/>
        </p:nvSpPr>
        <p:spPr>
          <a:xfrm>
            <a:off x="7040880" y="2788920"/>
            <a:ext cx="1417320" cy="114300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r>
              <a:rPr sz="1200" b="0">
                <a:solidFill>
                  <a:srgbClr val="5B6675"/>
                </a:solidFill>
                <a:latin typeface="Aptos"/>
              </a:rPr>
              <a:t>AI-assisted
engineering</a:t>
            </a:r>
          </a:p>
        </p:txBody>
      </p:sp>
      <p:cxnSp>
        <p:nvCxnSpPr>
          <p:cNvPr id="26" name="Connector 25"/>
          <p:cNvCxnSpPr/>
          <p:nvPr/>
        </p:nvCxnSpPr>
        <p:spPr>
          <a:xfrm>
            <a:off x="10040112" y="3063240"/>
            <a:ext cx="292608" cy="0"/>
          </a:xfrm>
          <a:prstGeom prst="line">
            <a:avLst/>
          </a:prstGeom>
          <a:ln w="19050">
            <a:solidFill>
              <a:srgbClr val="AAB6C5"/>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107424" y="1600200"/>
            <a:ext cx="548640" cy="5486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Aptos"/>
              </a:rPr>
              <a:t>6</a:t>
            </a:r>
          </a:p>
        </p:txBody>
      </p:sp>
      <p:sp>
        <p:nvSpPr>
          <p:cNvPr id="28" name="TextBox 27"/>
          <p:cNvSpPr txBox="1"/>
          <p:nvPr/>
        </p:nvSpPr>
        <p:spPr>
          <a:xfrm>
            <a:off x="8668512" y="2286000"/>
            <a:ext cx="1417320" cy="411480"/>
          </a:xfrm>
          <a:prstGeom prst="rect">
            <a:avLst/>
          </a:prstGeom>
          <a:noFill/>
        </p:spPr>
        <p:txBody>
          <a:bodyPr wrap="square" lIns="0" tIns="0" rIns="0" bIns="0" anchor="ctr">
            <a:spAutoFit/>
          </a:bodyPr>
          <a:lstStyle/>
          <a:p>
            <a:pPr algn="ctr"/>
            <a:r>
              <a:rPr sz="1400" b="1">
                <a:solidFill>
                  <a:srgbClr val="0B1F3A"/>
                </a:solidFill>
                <a:latin typeface="Aptos"/>
              </a:rPr>
              <a:t>Verification</a:t>
            </a:r>
          </a:p>
        </p:txBody>
      </p:sp>
      <p:sp>
        <p:nvSpPr>
          <p:cNvPr id="29" name="Rounded Rectangle 28"/>
          <p:cNvSpPr/>
          <p:nvPr/>
        </p:nvSpPr>
        <p:spPr>
          <a:xfrm>
            <a:off x="8668512" y="2788920"/>
            <a:ext cx="1417320" cy="114300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r>
              <a:rPr sz="1200" b="0">
                <a:solidFill>
                  <a:srgbClr val="5B6675"/>
                </a:solidFill>
                <a:latin typeface="Aptos"/>
              </a:rPr>
              <a:t>32 tests and
traceability</a:t>
            </a:r>
          </a:p>
        </p:txBody>
      </p:sp>
      <p:sp>
        <p:nvSpPr>
          <p:cNvPr id="30" name="Oval 29"/>
          <p:cNvSpPr/>
          <p:nvPr/>
        </p:nvSpPr>
        <p:spPr>
          <a:xfrm>
            <a:off x="10735056" y="1600200"/>
            <a:ext cx="548640" cy="548640"/>
          </a:xfrm>
          <a:prstGeom prst="ellipse">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Aptos"/>
              </a:rPr>
              <a:t>7</a:t>
            </a:r>
          </a:p>
        </p:txBody>
      </p:sp>
      <p:sp>
        <p:nvSpPr>
          <p:cNvPr id="31" name="TextBox 30"/>
          <p:cNvSpPr txBox="1"/>
          <p:nvPr/>
        </p:nvSpPr>
        <p:spPr>
          <a:xfrm>
            <a:off x="10296144" y="2286000"/>
            <a:ext cx="1417320" cy="411480"/>
          </a:xfrm>
          <a:prstGeom prst="rect">
            <a:avLst/>
          </a:prstGeom>
          <a:noFill/>
        </p:spPr>
        <p:txBody>
          <a:bodyPr wrap="square" lIns="0" tIns="0" rIns="0" bIns="0" anchor="ctr">
            <a:spAutoFit/>
          </a:bodyPr>
          <a:lstStyle/>
          <a:p>
            <a:pPr algn="ctr"/>
            <a:r>
              <a:rPr sz="1400" b="1">
                <a:solidFill>
                  <a:srgbClr val="0B1F3A"/>
                </a:solidFill>
                <a:latin typeface="Aptos"/>
              </a:rPr>
              <a:t>Approval</a:t>
            </a:r>
          </a:p>
        </p:txBody>
      </p:sp>
      <p:sp>
        <p:nvSpPr>
          <p:cNvPr id="32" name="Rounded Rectangle 31"/>
          <p:cNvSpPr/>
          <p:nvPr/>
        </p:nvSpPr>
        <p:spPr>
          <a:xfrm>
            <a:off x="10296144" y="2788920"/>
            <a:ext cx="1417320" cy="114300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r>
              <a:rPr sz="1200" b="0">
                <a:solidFill>
                  <a:srgbClr val="5B6675"/>
                </a:solidFill>
                <a:latin typeface="Aptos"/>
              </a:rPr>
              <a:t>Human-owned
final decision</a:t>
            </a:r>
          </a:p>
        </p:txBody>
      </p:sp>
      <p:sp>
        <p:nvSpPr>
          <p:cNvPr id="33" name="Rounded Rectangle 32"/>
          <p:cNvSpPr/>
          <p:nvPr/>
        </p:nvSpPr>
        <p:spPr>
          <a:xfrm>
            <a:off x="685800" y="4434840"/>
            <a:ext cx="10835640" cy="1051560"/>
          </a:xfrm>
          <a:prstGeom prst="roundRect">
            <a:avLst>
              <a:gd name="adj" fmla="val 8000"/>
            </a:avLst>
          </a:prstGeom>
          <a:solidFill>
            <a:srgbClr val="DBEAFE"/>
          </a:solidFill>
          <a:ln>
            <a:solidFill>
              <a:srgbClr val="B8D3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32688" y="4626864"/>
            <a:ext cx="10332720" cy="621792"/>
          </a:xfrm>
          <a:prstGeom prst="rect">
            <a:avLst/>
          </a:prstGeom>
          <a:noFill/>
        </p:spPr>
        <p:txBody>
          <a:bodyPr wrap="square" lIns="0" tIns="0" rIns="0" bIns="0" anchor="ctr">
            <a:spAutoFit/>
          </a:bodyPr>
          <a:lstStyle/>
          <a:p>
            <a:pPr algn="ctr"/>
            <a:r>
              <a:rPr sz="1900" b="1">
                <a:solidFill>
                  <a:srgbClr val="1D4ED8"/>
                </a:solidFill>
                <a:latin typeface="Aptos"/>
              </a:rPr>
              <a:t>The specification was an active engineering contract: requirements drove architecture, implementation tasks, acceptance tests, and the final report.</a:t>
            </a:r>
          </a:p>
        </p:txBody>
      </p:sp>
      <p:sp>
        <p:nvSpPr>
          <p:cNvPr id="35" name="Rounded Rectangle 34"/>
          <p:cNvSpPr/>
          <p:nvPr/>
        </p:nvSpPr>
        <p:spPr>
          <a:xfrm>
            <a:off x="3840480" y="5760720"/>
            <a:ext cx="4480560" cy="310896"/>
          </a:xfrm>
          <a:prstGeom prst="roundRect">
            <a:avLst>
              <a:gd name="adj" fmla="val 8000"/>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NOT RETROSPECTIVE DOCUMENTATION</a:t>
            </a:r>
          </a:p>
        </p:txBody>
      </p:sp>
      <p:sp>
        <p:nvSpPr>
          <p:cNvPr id="36" name="TextBox 35"/>
          <p:cNvSpPr txBox="1"/>
          <p:nvPr/>
        </p:nvSpPr>
        <p:spPr>
          <a:xfrm>
            <a:off x="502920" y="6565392"/>
            <a:ext cx="7498079" cy="164592"/>
          </a:xfrm>
          <a:prstGeom prst="rect">
            <a:avLst/>
          </a:prstGeom>
          <a:noFill/>
        </p:spPr>
        <p:txBody>
          <a:bodyPr wrap="square" lIns="0" tIns="0" rIns="0" bIns="0" anchor="ctr">
            <a:spAutoFit/>
          </a:bodyPr>
          <a:lstStyle/>
          <a:p>
            <a:pPr algn="l"/>
            <a:r>
              <a:rPr sz="800" b="0">
                <a:solidFill>
                  <a:srgbClr val="5B6675"/>
                </a:solidFill>
                <a:latin typeface="Aptos"/>
              </a:rPr>
              <a:t>Smart Backlog Assistant | AI-native SDLC case study</a:t>
            </a:r>
          </a:p>
        </p:txBody>
      </p:sp>
      <p:sp>
        <p:nvSpPr>
          <p:cNvPr id="37" name="TextBox 36"/>
          <p:cNvSpPr txBox="1"/>
          <p:nvPr/>
        </p:nvSpPr>
        <p:spPr>
          <a:xfrm>
            <a:off x="9692640" y="6565392"/>
            <a:ext cx="2011680" cy="164592"/>
          </a:xfrm>
          <a:prstGeom prst="rect">
            <a:avLst/>
          </a:prstGeom>
          <a:noFill/>
        </p:spPr>
        <p:txBody>
          <a:bodyPr wrap="square" lIns="0" tIns="0" rIns="0" bIns="0" anchor="ctr">
            <a:spAutoFit/>
          </a:bodyPr>
          <a:lstStyle/>
          <a:p>
            <a:pPr algn="r"/>
            <a:r>
              <a:rPr sz="800" b="0">
                <a:solidFill>
                  <a:srgbClr val="2563EB"/>
                </a:solidFill>
                <a:latin typeface="Aptos"/>
              </a:rPr>
              <a:t>github.com/sjnoolkar-accenture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0607040" cy="411480"/>
          </a:xfrm>
          <a:prstGeom prst="rect">
            <a:avLst/>
          </a:prstGeom>
          <a:noFill/>
        </p:spPr>
        <p:txBody>
          <a:bodyPr wrap="square" lIns="0" tIns="0" rIns="0" bIns="0" anchor="ctr">
            <a:spAutoFit/>
          </a:bodyPr>
          <a:lstStyle/>
          <a:p>
            <a:pPr algn="l"/>
            <a:r>
              <a:rPr sz="2600" b="1">
                <a:solidFill>
                  <a:srgbClr val="0B1F3A"/>
                </a:solidFill>
                <a:latin typeface="Aptos"/>
              </a:rPr>
              <a:t>Architecture: AI flexibility inside deterministic boundaries</a:t>
            </a:r>
          </a:p>
        </p:txBody>
      </p:sp>
      <p:sp>
        <p:nvSpPr>
          <p:cNvPr id="3" name="TextBox 2"/>
          <p:cNvSpPr txBox="1"/>
          <p:nvPr/>
        </p:nvSpPr>
        <p:spPr>
          <a:xfrm>
            <a:off x="530352" y="694944"/>
            <a:ext cx="10698480" cy="274320"/>
          </a:xfrm>
          <a:prstGeom prst="rect">
            <a:avLst/>
          </a:prstGeom>
          <a:noFill/>
        </p:spPr>
        <p:txBody>
          <a:bodyPr wrap="square" lIns="0" tIns="0" rIns="0" bIns="0" anchor="ctr">
            <a:spAutoFit/>
          </a:bodyPr>
          <a:lstStyle/>
          <a:p>
            <a:pPr algn="l"/>
            <a:r>
              <a:rPr sz="1100" b="0">
                <a:solidFill>
                  <a:srgbClr val="5B6675"/>
                </a:solidFill>
                <a:latin typeface="Aptos"/>
              </a:rPr>
              <a:t>Five sequential agents, each paired with one request-bound controlled tool.</a:t>
            </a:r>
          </a:p>
        </p:txBody>
      </p:sp>
      <p:sp>
        <p:nvSpPr>
          <p:cNvPr id="4" name="Rounded Rectangle 3"/>
          <p:cNvSpPr/>
          <p:nvPr/>
        </p:nvSpPr>
        <p:spPr>
          <a:xfrm>
            <a:off x="11292840" y="256032"/>
            <a:ext cx="384048" cy="384048"/>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Aptos"/>
              </a:rPr>
              <a:t>4</a:t>
            </a:r>
          </a:p>
        </p:txBody>
      </p:sp>
      <p:sp>
        <p:nvSpPr>
          <p:cNvPr id="5" name="Rectangle 4"/>
          <p:cNvSpPr/>
          <p:nvPr/>
        </p:nvSpPr>
        <p:spPr>
          <a:xfrm>
            <a:off x="502920" y="1024128"/>
            <a:ext cx="11201400" cy="22860"/>
          </a:xfrm>
          <a:prstGeom prst="rect">
            <a:avLst/>
          </a:prstGeom>
          <a:solidFill>
            <a:srgbClr val="D8E0EA"/>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234440"/>
            <a:ext cx="2011680" cy="256032"/>
          </a:xfrm>
          <a:prstGeom prst="rect">
            <a:avLst/>
          </a:prstGeom>
          <a:noFill/>
        </p:spPr>
        <p:txBody>
          <a:bodyPr wrap="square" lIns="0" tIns="0" rIns="0" bIns="0" anchor="ctr">
            <a:spAutoFit/>
          </a:bodyPr>
          <a:lstStyle/>
          <a:p>
            <a:pPr algn="ctr"/>
            <a:r>
              <a:rPr sz="1100" b="1">
                <a:solidFill>
                  <a:srgbClr val="5B6675"/>
                </a:solidFill>
                <a:latin typeface="Aptos"/>
              </a:rPr>
              <a:t>AUTHORITATIVE INPUTS</a:t>
            </a:r>
          </a:p>
        </p:txBody>
      </p:sp>
      <p:sp>
        <p:nvSpPr>
          <p:cNvPr id="7" name="Rounded Rectangle 6"/>
          <p:cNvSpPr/>
          <p:nvPr/>
        </p:nvSpPr>
        <p:spPr>
          <a:xfrm>
            <a:off x="594360" y="1664208"/>
            <a:ext cx="2103120" cy="530352"/>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300" b="1">
                <a:solidFill>
                  <a:srgbClr val="0B1F3A"/>
                </a:solidFill>
                <a:latin typeface="Aptos"/>
              </a:rPr>
              <a:t>Meeting notes</a:t>
            </a:r>
          </a:p>
        </p:txBody>
      </p:sp>
      <p:sp>
        <p:nvSpPr>
          <p:cNvPr id="8" name="Rounded Rectangle 7"/>
          <p:cNvSpPr/>
          <p:nvPr/>
        </p:nvSpPr>
        <p:spPr>
          <a:xfrm>
            <a:off x="594360" y="2395728"/>
            <a:ext cx="2103120" cy="530352"/>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300" b="1">
                <a:solidFill>
                  <a:srgbClr val="0B1F3A"/>
                </a:solidFill>
                <a:latin typeface="Aptos"/>
              </a:rPr>
              <a:t>Text / Markdown / PDF</a:t>
            </a:r>
          </a:p>
        </p:txBody>
      </p:sp>
      <p:sp>
        <p:nvSpPr>
          <p:cNvPr id="9" name="Rounded Rectangle 8"/>
          <p:cNvSpPr/>
          <p:nvPr/>
        </p:nvSpPr>
        <p:spPr>
          <a:xfrm>
            <a:off x="594360" y="3127248"/>
            <a:ext cx="2103120" cy="530352"/>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300" b="1">
                <a:solidFill>
                  <a:srgbClr val="0B1F3A"/>
                </a:solidFill>
                <a:latin typeface="Aptos"/>
              </a:rPr>
              <a:t>Existing backlog JSON</a:t>
            </a:r>
          </a:p>
        </p:txBody>
      </p:sp>
      <p:sp>
        <p:nvSpPr>
          <p:cNvPr id="10" name="TextBox 9"/>
          <p:cNvSpPr txBox="1"/>
          <p:nvPr/>
        </p:nvSpPr>
        <p:spPr>
          <a:xfrm>
            <a:off x="2926080" y="1234440"/>
            <a:ext cx="6400800" cy="256032"/>
          </a:xfrm>
          <a:prstGeom prst="rect">
            <a:avLst/>
          </a:prstGeom>
          <a:noFill/>
        </p:spPr>
        <p:txBody>
          <a:bodyPr wrap="square" lIns="0" tIns="0" rIns="0" bIns="0" anchor="ctr">
            <a:spAutoFit/>
          </a:bodyPr>
          <a:lstStyle/>
          <a:p>
            <a:pPr algn="ctr"/>
            <a:r>
              <a:rPr sz="1100" b="1">
                <a:solidFill>
                  <a:srgbClr val="5B6675"/>
                </a:solidFill>
                <a:latin typeface="Aptos"/>
              </a:rPr>
              <a:t>MICROSOFT AGENT FRAMEWORK WORKFLOW</a:t>
            </a:r>
          </a:p>
        </p:txBody>
      </p:sp>
      <p:cxnSp>
        <p:nvCxnSpPr>
          <p:cNvPr id="11" name="Connector 10"/>
          <p:cNvCxnSpPr/>
          <p:nvPr/>
        </p:nvCxnSpPr>
        <p:spPr>
          <a:xfrm>
            <a:off x="3977639" y="2148840"/>
            <a:ext cx="246889"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80360" y="1719072"/>
            <a:ext cx="1115568" cy="868680"/>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a:solidFill>
                  <a:srgbClr val="FFFFFF"/>
                </a:solidFill>
                <a:latin typeface="Aptos"/>
              </a:rPr>
              <a:t>Orchestrator</a:t>
            </a:r>
          </a:p>
        </p:txBody>
      </p:sp>
      <p:cxnSp>
        <p:nvCxnSpPr>
          <p:cNvPr id="13" name="Connector 12"/>
          <p:cNvCxnSpPr/>
          <p:nvPr/>
        </p:nvCxnSpPr>
        <p:spPr>
          <a:xfrm>
            <a:off x="3438144" y="2596896"/>
            <a:ext cx="0" cy="347472"/>
          </a:xfrm>
          <a:prstGeom prst="line">
            <a:avLst/>
          </a:prstGeom>
          <a:ln w="19050">
            <a:solidFill>
              <a:srgbClr val="0F9F8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80360" y="2953512"/>
            <a:ext cx="1115568" cy="749808"/>
          </a:xfrm>
          <a:prstGeom prst="roundRect">
            <a:avLst>
              <a:gd name="adj" fmla="val 8000"/>
            </a:avLst>
          </a:prstGeom>
          <a:solidFill>
            <a:srgbClr val="CCFBF1"/>
          </a:solidFill>
          <a:ln>
            <a:solidFill>
              <a:srgbClr val="8CE3D6"/>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0F9F8F"/>
                </a:solidFill>
                <a:latin typeface="Aptos"/>
              </a:rPr>
              <a:t>Request inspection</a:t>
            </a:r>
          </a:p>
        </p:txBody>
      </p:sp>
      <p:cxnSp>
        <p:nvCxnSpPr>
          <p:cNvPr id="15" name="Connector 14"/>
          <p:cNvCxnSpPr/>
          <p:nvPr/>
        </p:nvCxnSpPr>
        <p:spPr>
          <a:xfrm>
            <a:off x="5303520" y="2148840"/>
            <a:ext cx="246887"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06240" y="1719072"/>
            <a:ext cx="1115568" cy="868680"/>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a:solidFill>
                  <a:srgbClr val="FFFFFF"/>
                </a:solidFill>
                <a:latin typeface="Aptos"/>
              </a:rPr>
              <a:t>Requirements</a:t>
            </a:r>
          </a:p>
        </p:txBody>
      </p:sp>
      <p:cxnSp>
        <p:nvCxnSpPr>
          <p:cNvPr id="17" name="Connector 16"/>
          <p:cNvCxnSpPr/>
          <p:nvPr/>
        </p:nvCxnSpPr>
        <p:spPr>
          <a:xfrm>
            <a:off x="4764024" y="2596896"/>
            <a:ext cx="0" cy="347472"/>
          </a:xfrm>
          <a:prstGeom prst="line">
            <a:avLst/>
          </a:prstGeom>
          <a:ln w="19050">
            <a:solidFill>
              <a:srgbClr val="0F9F8F"/>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06240" y="2953512"/>
            <a:ext cx="1115568" cy="749808"/>
          </a:xfrm>
          <a:prstGeom prst="roundRect">
            <a:avLst>
              <a:gd name="adj" fmla="val 8000"/>
            </a:avLst>
          </a:prstGeom>
          <a:solidFill>
            <a:srgbClr val="CCFBF1"/>
          </a:solidFill>
          <a:ln>
            <a:solidFill>
              <a:srgbClr val="8CE3D6"/>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0F9F8F"/>
                </a:solidFill>
                <a:latin typeface="Aptos"/>
              </a:rPr>
              <a:t>Source reader</a:t>
            </a:r>
          </a:p>
        </p:txBody>
      </p:sp>
      <p:cxnSp>
        <p:nvCxnSpPr>
          <p:cNvPr id="19" name="Connector 18"/>
          <p:cNvCxnSpPr/>
          <p:nvPr/>
        </p:nvCxnSpPr>
        <p:spPr>
          <a:xfrm>
            <a:off x="6629400" y="2148840"/>
            <a:ext cx="246888"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532120" y="1719072"/>
            <a:ext cx="1115568" cy="868680"/>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a:solidFill>
                  <a:srgbClr val="FFFFFF"/>
                </a:solidFill>
                <a:latin typeface="Aptos"/>
              </a:rPr>
              <a:t>Backlog</a:t>
            </a:r>
          </a:p>
        </p:txBody>
      </p:sp>
      <p:cxnSp>
        <p:nvCxnSpPr>
          <p:cNvPr id="21" name="Connector 20"/>
          <p:cNvCxnSpPr/>
          <p:nvPr/>
        </p:nvCxnSpPr>
        <p:spPr>
          <a:xfrm>
            <a:off x="6089904" y="2596896"/>
            <a:ext cx="0" cy="347472"/>
          </a:xfrm>
          <a:prstGeom prst="line">
            <a:avLst/>
          </a:prstGeom>
          <a:ln w="19050">
            <a:solidFill>
              <a:srgbClr val="0F9F8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532120" y="2953512"/>
            <a:ext cx="1115568" cy="749808"/>
          </a:xfrm>
          <a:prstGeom prst="roundRect">
            <a:avLst>
              <a:gd name="adj" fmla="val 8000"/>
            </a:avLst>
          </a:prstGeom>
          <a:solidFill>
            <a:srgbClr val="CCFBF1"/>
          </a:solidFill>
          <a:ln>
            <a:solidFill>
              <a:srgbClr val="8CE3D6"/>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0F9F8F"/>
                </a:solidFill>
                <a:latin typeface="Aptos"/>
              </a:rPr>
              <a:t>Backlog search</a:t>
            </a:r>
          </a:p>
        </p:txBody>
      </p:sp>
      <p:cxnSp>
        <p:nvCxnSpPr>
          <p:cNvPr id="23" name="Connector 22"/>
          <p:cNvCxnSpPr/>
          <p:nvPr/>
        </p:nvCxnSpPr>
        <p:spPr>
          <a:xfrm>
            <a:off x="7955279" y="2148840"/>
            <a:ext cx="246889"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58000" y="1719072"/>
            <a:ext cx="1115568" cy="868680"/>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a:solidFill>
                  <a:srgbClr val="FFFFFF"/>
                </a:solidFill>
                <a:latin typeface="Aptos"/>
              </a:rPr>
              <a:t>Story writer</a:t>
            </a:r>
          </a:p>
        </p:txBody>
      </p:sp>
      <p:cxnSp>
        <p:nvCxnSpPr>
          <p:cNvPr id="25" name="Connector 24"/>
          <p:cNvCxnSpPr/>
          <p:nvPr/>
        </p:nvCxnSpPr>
        <p:spPr>
          <a:xfrm>
            <a:off x="7415783" y="2596896"/>
            <a:ext cx="0" cy="347472"/>
          </a:xfrm>
          <a:prstGeom prst="line">
            <a:avLst/>
          </a:prstGeom>
          <a:ln w="19050">
            <a:solidFill>
              <a:srgbClr val="0F9F8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858000" y="2953512"/>
            <a:ext cx="1115568" cy="749808"/>
          </a:xfrm>
          <a:prstGeom prst="roundRect">
            <a:avLst>
              <a:gd name="adj" fmla="val 8000"/>
            </a:avLst>
          </a:prstGeom>
          <a:solidFill>
            <a:srgbClr val="CCFBF1"/>
          </a:solidFill>
          <a:ln>
            <a:solidFill>
              <a:srgbClr val="8CE3D6"/>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0F9F8F"/>
                </a:solidFill>
                <a:latin typeface="Aptos"/>
              </a:rPr>
              <a:t>Story context</a:t>
            </a:r>
          </a:p>
        </p:txBody>
      </p:sp>
      <p:sp>
        <p:nvSpPr>
          <p:cNvPr id="27" name="Rounded Rectangle 26"/>
          <p:cNvSpPr/>
          <p:nvPr/>
        </p:nvSpPr>
        <p:spPr>
          <a:xfrm>
            <a:off x="8183879" y="1719072"/>
            <a:ext cx="1115568" cy="868680"/>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200" b="1">
                <a:solidFill>
                  <a:srgbClr val="FFFFFF"/>
                </a:solidFill>
                <a:latin typeface="Aptos"/>
              </a:rPr>
              <a:t>Reviewer</a:t>
            </a:r>
          </a:p>
        </p:txBody>
      </p:sp>
      <p:cxnSp>
        <p:nvCxnSpPr>
          <p:cNvPr id="28" name="Connector 27"/>
          <p:cNvCxnSpPr/>
          <p:nvPr/>
        </p:nvCxnSpPr>
        <p:spPr>
          <a:xfrm>
            <a:off x="8741663" y="2596896"/>
            <a:ext cx="0" cy="347472"/>
          </a:xfrm>
          <a:prstGeom prst="line">
            <a:avLst/>
          </a:prstGeom>
          <a:ln w="19050">
            <a:solidFill>
              <a:srgbClr val="0F9F8F"/>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183879" y="2953512"/>
            <a:ext cx="1115568" cy="749808"/>
          </a:xfrm>
          <a:prstGeom prst="roundRect">
            <a:avLst>
              <a:gd name="adj" fmla="val 8000"/>
            </a:avLst>
          </a:prstGeom>
          <a:solidFill>
            <a:srgbClr val="CCFBF1"/>
          </a:solidFill>
          <a:ln>
            <a:solidFill>
              <a:srgbClr val="8CE3D6"/>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1">
                <a:solidFill>
                  <a:srgbClr val="0F9F8F"/>
                </a:solidFill>
                <a:latin typeface="Aptos"/>
              </a:rPr>
              <a:t>Proposal validation</a:t>
            </a:r>
          </a:p>
        </p:txBody>
      </p:sp>
      <p:cxnSp>
        <p:nvCxnSpPr>
          <p:cNvPr id="30" name="Connector 29"/>
          <p:cNvCxnSpPr/>
          <p:nvPr/>
        </p:nvCxnSpPr>
        <p:spPr>
          <a:xfrm flipV="1">
            <a:off x="2697480" y="2148840"/>
            <a:ext cx="182880" cy="393192"/>
          </a:xfrm>
          <a:prstGeom prst="line">
            <a:avLst/>
          </a:prstGeom>
          <a:ln w="19050">
            <a:solidFill>
              <a:srgbClr val="7A879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372600" y="2148840"/>
            <a:ext cx="274320" cy="0"/>
          </a:xfrm>
          <a:prstGeom prst="line">
            <a:avLst/>
          </a:prstGeom>
          <a:ln w="19050">
            <a:solidFill>
              <a:srgbClr val="7A879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674352" y="1536192"/>
            <a:ext cx="1901952" cy="2395728"/>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57232" y="1737360"/>
            <a:ext cx="1536192" cy="274320"/>
          </a:xfrm>
          <a:prstGeom prst="rect">
            <a:avLst/>
          </a:prstGeom>
          <a:noFill/>
        </p:spPr>
        <p:txBody>
          <a:bodyPr wrap="square" lIns="0" tIns="0" rIns="0" bIns="0" anchor="ctr">
            <a:spAutoFit/>
          </a:bodyPr>
          <a:lstStyle/>
          <a:p>
            <a:pPr algn="ctr"/>
            <a:r>
              <a:rPr sz="1100" b="1">
                <a:solidFill>
                  <a:srgbClr val="2563EB"/>
                </a:solidFill>
                <a:latin typeface="Aptos"/>
              </a:rPr>
              <a:t>VALIDATED OUTPUT</a:t>
            </a:r>
          </a:p>
        </p:txBody>
      </p:sp>
      <p:sp>
        <p:nvSpPr>
          <p:cNvPr id="34" name="Rounded Rectangle 33"/>
          <p:cNvSpPr/>
          <p:nvPr/>
        </p:nvSpPr>
        <p:spPr>
          <a:xfrm>
            <a:off x="9893808" y="2176272"/>
            <a:ext cx="1463040" cy="365760"/>
          </a:xfrm>
          <a:prstGeom prst="roundRect">
            <a:avLst>
              <a:gd name="adj" fmla="val 8000"/>
            </a:avLst>
          </a:prstGeom>
          <a:solidFill>
            <a:srgbClr val="DBEAFE"/>
          </a:solidFill>
          <a:ln>
            <a:solidFill>
              <a:srgbClr val="DBEAFE"/>
            </a:solid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000" b="1">
                <a:solidFill>
                  <a:srgbClr val="2563EB"/>
                </a:solidFill>
                <a:latin typeface="Aptos"/>
              </a:rPr>
              <a:t>Canonical JSON</a:t>
            </a:r>
          </a:p>
        </p:txBody>
      </p:sp>
      <p:sp>
        <p:nvSpPr>
          <p:cNvPr id="35" name="Rounded Rectangle 34"/>
          <p:cNvSpPr/>
          <p:nvPr/>
        </p:nvSpPr>
        <p:spPr>
          <a:xfrm>
            <a:off x="9893808" y="2679192"/>
            <a:ext cx="1463040" cy="365760"/>
          </a:xfrm>
          <a:prstGeom prst="roundRect">
            <a:avLst>
              <a:gd name="adj" fmla="val 8000"/>
            </a:avLst>
          </a:prstGeom>
          <a:solidFill>
            <a:srgbClr val="CCFBF1"/>
          </a:solidFill>
          <a:ln>
            <a:solidFill>
              <a:srgbClr val="CCFBF1"/>
            </a:solid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000" b="1">
                <a:solidFill>
                  <a:srgbClr val="0F9F8F"/>
                </a:solidFill>
                <a:latin typeface="Aptos"/>
              </a:rPr>
              <a:t>Readable Markdown</a:t>
            </a:r>
          </a:p>
        </p:txBody>
      </p:sp>
      <p:sp>
        <p:nvSpPr>
          <p:cNvPr id="36" name="Rounded Rectangle 35"/>
          <p:cNvSpPr/>
          <p:nvPr/>
        </p:nvSpPr>
        <p:spPr>
          <a:xfrm>
            <a:off x="9893808" y="3182112"/>
            <a:ext cx="1463040" cy="365760"/>
          </a:xfrm>
          <a:prstGeom prst="roundRect">
            <a:avLst>
              <a:gd name="adj" fmla="val 8000"/>
            </a:avLst>
          </a:prstGeom>
          <a:solidFill>
            <a:srgbClr val="FEF3C7"/>
          </a:solidFill>
          <a:ln>
            <a:solidFill>
              <a:srgbClr val="FEF3C7"/>
            </a:solid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ctr"/>
            <a:r>
              <a:rPr sz="1000" b="1">
                <a:solidFill>
                  <a:srgbClr val="B45309"/>
                </a:solidFill>
                <a:latin typeface="Aptos"/>
              </a:rPr>
              <a:t>Human approval</a:t>
            </a:r>
          </a:p>
        </p:txBody>
      </p:sp>
      <p:sp>
        <p:nvSpPr>
          <p:cNvPr id="37" name="Rounded Rectangle 36"/>
          <p:cNvSpPr/>
          <p:nvPr/>
        </p:nvSpPr>
        <p:spPr>
          <a:xfrm>
            <a:off x="594360" y="4251960"/>
            <a:ext cx="10972800" cy="1325880"/>
          </a:xfrm>
          <a:prstGeom prst="roundRect">
            <a:avLst>
              <a:gd name="adj" fmla="val 8000"/>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50392" y="4434840"/>
            <a:ext cx="2971800" cy="292608"/>
          </a:xfrm>
          <a:prstGeom prst="rect">
            <a:avLst/>
          </a:prstGeom>
          <a:noFill/>
        </p:spPr>
        <p:txBody>
          <a:bodyPr wrap="square" lIns="0" tIns="0" rIns="0" bIns="0" anchor="ctr">
            <a:spAutoFit/>
          </a:bodyPr>
          <a:lstStyle/>
          <a:p>
            <a:pPr algn="ctr"/>
            <a:r>
              <a:rPr sz="1300" b="1">
                <a:solidFill>
                  <a:srgbClr val="85B4FF"/>
                </a:solidFill>
                <a:latin typeface="Aptos"/>
              </a:rPr>
              <a:t>AI INTERPRETS</a:t>
            </a:r>
          </a:p>
        </p:txBody>
      </p:sp>
      <p:sp>
        <p:nvSpPr>
          <p:cNvPr id="39" name="TextBox 38"/>
          <p:cNvSpPr txBox="1"/>
          <p:nvPr/>
        </p:nvSpPr>
        <p:spPr>
          <a:xfrm>
            <a:off x="850392" y="4800600"/>
            <a:ext cx="2971800" cy="438912"/>
          </a:xfrm>
          <a:prstGeom prst="rect">
            <a:avLst/>
          </a:prstGeom>
          <a:noFill/>
        </p:spPr>
        <p:txBody>
          <a:bodyPr wrap="square" lIns="0" tIns="0" rIns="0" bIns="0" anchor="ctr">
            <a:spAutoFit/>
          </a:bodyPr>
          <a:lstStyle/>
          <a:p>
            <a:pPr algn="ctr"/>
            <a:r>
              <a:rPr sz="1300" b="0">
                <a:solidFill>
                  <a:srgbClr val="FFFFFF"/>
                </a:solidFill>
                <a:latin typeface="Aptos"/>
              </a:rPr>
              <a:t>Intent, relationships, story wording, clarity</a:t>
            </a:r>
          </a:p>
        </p:txBody>
      </p:sp>
      <p:sp>
        <p:nvSpPr>
          <p:cNvPr id="40" name="TextBox 39"/>
          <p:cNvSpPr txBox="1"/>
          <p:nvPr/>
        </p:nvSpPr>
        <p:spPr>
          <a:xfrm>
            <a:off x="4617720" y="4434840"/>
            <a:ext cx="2971800" cy="292608"/>
          </a:xfrm>
          <a:prstGeom prst="rect">
            <a:avLst/>
          </a:prstGeom>
          <a:noFill/>
        </p:spPr>
        <p:txBody>
          <a:bodyPr wrap="square" lIns="0" tIns="0" rIns="0" bIns="0" anchor="ctr">
            <a:spAutoFit/>
          </a:bodyPr>
          <a:lstStyle/>
          <a:p>
            <a:pPr algn="ctr"/>
            <a:r>
              <a:rPr sz="1300" b="1">
                <a:solidFill>
                  <a:srgbClr val="77E3D1"/>
                </a:solidFill>
                <a:latin typeface="Aptos"/>
              </a:rPr>
              <a:t>CODE CONTROLS</a:t>
            </a:r>
          </a:p>
        </p:txBody>
      </p:sp>
      <p:sp>
        <p:nvSpPr>
          <p:cNvPr id="41" name="TextBox 40"/>
          <p:cNvSpPr txBox="1"/>
          <p:nvPr/>
        </p:nvSpPr>
        <p:spPr>
          <a:xfrm>
            <a:off x="4617720" y="4800600"/>
            <a:ext cx="2971800" cy="438912"/>
          </a:xfrm>
          <a:prstGeom prst="rect">
            <a:avLst/>
          </a:prstGeom>
          <a:noFill/>
        </p:spPr>
        <p:txBody>
          <a:bodyPr wrap="square" lIns="0" tIns="0" rIns="0" bIns="0" anchor="ctr">
            <a:spAutoFit/>
          </a:bodyPr>
          <a:lstStyle/>
          <a:p>
            <a:pPr algn="ctr"/>
            <a:r>
              <a:rPr sz="1300" b="0">
                <a:solidFill>
                  <a:srgbClr val="FFFFFF"/>
                </a:solidFill>
                <a:latin typeface="Aptos"/>
              </a:rPr>
              <a:t>Evidence, types, limits, IDs, validation</a:t>
            </a:r>
          </a:p>
        </p:txBody>
      </p:sp>
      <p:sp>
        <p:nvSpPr>
          <p:cNvPr id="42" name="TextBox 41"/>
          <p:cNvSpPr txBox="1"/>
          <p:nvPr/>
        </p:nvSpPr>
        <p:spPr>
          <a:xfrm>
            <a:off x="8302752" y="4434840"/>
            <a:ext cx="2971800" cy="292608"/>
          </a:xfrm>
          <a:prstGeom prst="rect">
            <a:avLst/>
          </a:prstGeom>
          <a:noFill/>
        </p:spPr>
        <p:txBody>
          <a:bodyPr wrap="square" lIns="0" tIns="0" rIns="0" bIns="0" anchor="ctr">
            <a:spAutoFit/>
          </a:bodyPr>
          <a:lstStyle/>
          <a:p>
            <a:pPr algn="ctr"/>
            <a:r>
              <a:rPr sz="1300" b="1">
                <a:solidFill>
                  <a:srgbClr val="FFD075"/>
                </a:solidFill>
                <a:latin typeface="Aptos"/>
              </a:rPr>
              <a:t>HUMANS DECIDE</a:t>
            </a:r>
          </a:p>
        </p:txBody>
      </p:sp>
      <p:sp>
        <p:nvSpPr>
          <p:cNvPr id="43" name="TextBox 42"/>
          <p:cNvSpPr txBox="1"/>
          <p:nvPr/>
        </p:nvSpPr>
        <p:spPr>
          <a:xfrm>
            <a:off x="8302752" y="4800600"/>
            <a:ext cx="2971800" cy="438912"/>
          </a:xfrm>
          <a:prstGeom prst="rect">
            <a:avLst/>
          </a:prstGeom>
          <a:noFill/>
        </p:spPr>
        <p:txBody>
          <a:bodyPr wrap="square" lIns="0" tIns="0" rIns="0" bIns="0" anchor="ctr">
            <a:spAutoFit/>
          </a:bodyPr>
          <a:lstStyle/>
          <a:p>
            <a:pPr algn="ctr"/>
            <a:r>
              <a:rPr sz="1300" b="0">
                <a:solidFill>
                  <a:srgbClr val="FFFFFF"/>
                </a:solidFill>
                <a:latin typeface="Aptos"/>
              </a:rPr>
              <a:t>Accept, revise, or reject the proposal</a:t>
            </a:r>
          </a:p>
        </p:txBody>
      </p:sp>
      <p:sp>
        <p:nvSpPr>
          <p:cNvPr id="44" name="Rounded Rectangle 43"/>
          <p:cNvSpPr/>
          <p:nvPr/>
        </p:nvSpPr>
        <p:spPr>
          <a:xfrm>
            <a:off x="3840480" y="5815584"/>
            <a:ext cx="4480560" cy="310896"/>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EXACTLY ONE TOOL RECORD PER STAGE</a:t>
            </a:r>
          </a:p>
        </p:txBody>
      </p:sp>
      <p:sp>
        <p:nvSpPr>
          <p:cNvPr id="45" name="TextBox 44"/>
          <p:cNvSpPr txBox="1"/>
          <p:nvPr/>
        </p:nvSpPr>
        <p:spPr>
          <a:xfrm>
            <a:off x="502920" y="6565392"/>
            <a:ext cx="7498079" cy="164592"/>
          </a:xfrm>
          <a:prstGeom prst="rect">
            <a:avLst/>
          </a:prstGeom>
          <a:noFill/>
        </p:spPr>
        <p:txBody>
          <a:bodyPr wrap="square" lIns="0" tIns="0" rIns="0" bIns="0" anchor="ctr">
            <a:spAutoFit/>
          </a:bodyPr>
          <a:lstStyle/>
          <a:p>
            <a:pPr algn="l"/>
            <a:r>
              <a:rPr sz="800" b="0">
                <a:solidFill>
                  <a:srgbClr val="5B6675"/>
                </a:solidFill>
                <a:latin typeface="Aptos"/>
              </a:rPr>
              <a:t>Smart Backlog Assistant | AI-native SDLC case study</a:t>
            </a:r>
          </a:p>
        </p:txBody>
      </p:sp>
      <p:sp>
        <p:nvSpPr>
          <p:cNvPr id="46" name="TextBox 45"/>
          <p:cNvSpPr txBox="1"/>
          <p:nvPr/>
        </p:nvSpPr>
        <p:spPr>
          <a:xfrm>
            <a:off x="9692640" y="6565392"/>
            <a:ext cx="2011680" cy="164592"/>
          </a:xfrm>
          <a:prstGeom prst="rect">
            <a:avLst/>
          </a:prstGeom>
          <a:noFill/>
        </p:spPr>
        <p:txBody>
          <a:bodyPr wrap="square" lIns="0" tIns="0" rIns="0" bIns="0" anchor="ctr">
            <a:spAutoFit/>
          </a:bodyPr>
          <a:lstStyle/>
          <a:p>
            <a:pPr algn="r"/>
            <a:r>
              <a:rPr sz="800" b="0">
                <a:solidFill>
                  <a:srgbClr val="2563EB"/>
                </a:solidFill>
                <a:latin typeface="Aptos"/>
              </a:rPr>
              <a:t>github.com/sjnoolkar-accenture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0607040" cy="411480"/>
          </a:xfrm>
          <a:prstGeom prst="rect">
            <a:avLst/>
          </a:prstGeom>
          <a:noFill/>
        </p:spPr>
        <p:txBody>
          <a:bodyPr wrap="square" lIns="0" tIns="0" rIns="0" bIns="0" anchor="ctr">
            <a:spAutoFit/>
          </a:bodyPr>
          <a:lstStyle/>
          <a:p>
            <a:pPr algn="l"/>
            <a:r>
              <a:rPr sz="2600" b="1">
                <a:solidFill>
                  <a:srgbClr val="0B1F3A"/>
                </a:solidFill>
                <a:latin typeface="Aptos"/>
              </a:rPr>
              <a:t>Prompt engineering plus deterministic trust controls</a:t>
            </a:r>
          </a:p>
        </p:txBody>
      </p:sp>
      <p:sp>
        <p:nvSpPr>
          <p:cNvPr id="3" name="TextBox 2"/>
          <p:cNvSpPr txBox="1"/>
          <p:nvPr/>
        </p:nvSpPr>
        <p:spPr>
          <a:xfrm>
            <a:off x="530352" y="694944"/>
            <a:ext cx="10698480" cy="274320"/>
          </a:xfrm>
          <a:prstGeom prst="rect">
            <a:avLst/>
          </a:prstGeom>
          <a:noFill/>
        </p:spPr>
        <p:txBody>
          <a:bodyPr wrap="square" lIns="0" tIns="0" rIns="0" bIns="0" anchor="ctr">
            <a:spAutoFit/>
          </a:bodyPr>
          <a:lstStyle/>
          <a:p>
            <a:pPr algn="l"/>
            <a:r>
              <a:rPr sz="1100" b="0">
                <a:solidFill>
                  <a:srgbClr val="5B6675"/>
                </a:solidFill>
                <a:latin typeface="Aptos"/>
              </a:rPr>
              <a:t>Prompts guide behavior; code enforces the final contract.</a:t>
            </a:r>
          </a:p>
        </p:txBody>
      </p:sp>
      <p:sp>
        <p:nvSpPr>
          <p:cNvPr id="4" name="Rounded Rectangle 3"/>
          <p:cNvSpPr/>
          <p:nvPr/>
        </p:nvSpPr>
        <p:spPr>
          <a:xfrm>
            <a:off x="11292840" y="256032"/>
            <a:ext cx="384048" cy="384048"/>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Aptos"/>
              </a:rPr>
              <a:t>5</a:t>
            </a:r>
          </a:p>
        </p:txBody>
      </p:sp>
      <p:sp>
        <p:nvSpPr>
          <p:cNvPr id="5" name="Rectangle 4"/>
          <p:cNvSpPr/>
          <p:nvPr/>
        </p:nvSpPr>
        <p:spPr>
          <a:xfrm>
            <a:off x="502920" y="1024128"/>
            <a:ext cx="11201400" cy="22860"/>
          </a:xfrm>
          <a:prstGeom prst="rect">
            <a:avLst/>
          </a:prstGeom>
          <a:solidFill>
            <a:srgbClr val="D8E0EA"/>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261872"/>
            <a:ext cx="5074920" cy="274320"/>
          </a:xfrm>
          <a:prstGeom prst="rect">
            <a:avLst/>
          </a:prstGeom>
          <a:noFill/>
        </p:spPr>
        <p:txBody>
          <a:bodyPr wrap="square" lIns="0" tIns="0" rIns="0" bIns="0" anchor="ctr">
            <a:spAutoFit/>
          </a:bodyPr>
          <a:lstStyle/>
          <a:p>
            <a:pPr algn="l"/>
            <a:r>
              <a:rPr sz="1200" b="1">
                <a:solidFill>
                  <a:srgbClr val="2563EB"/>
                </a:solidFill>
                <a:latin typeface="Aptos"/>
              </a:rPr>
              <a:t>TWO-LAYER PROMPT COMPOSITION</a:t>
            </a:r>
          </a:p>
        </p:txBody>
      </p:sp>
      <p:sp>
        <p:nvSpPr>
          <p:cNvPr id="7" name="Rounded Rectangle 6"/>
          <p:cNvSpPr/>
          <p:nvPr/>
        </p:nvSpPr>
        <p:spPr>
          <a:xfrm>
            <a:off x="594360" y="1664208"/>
            <a:ext cx="2331720" cy="2578608"/>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l">
              <a:spcAft>
                <a:spcPts val="500"/>
              </a:spcAft>
            </a:pPr>
            <a:r>
              <a:rPr sz="1300" b="1">
                <a:solidFill>
                  <a:srgbClr val="2563EB"/>
                </a:solidFill>
                <a:latin typeface="Aptos"/>
              </a:rPr>
              <a:t>AGENT INSTRUCTIONS</a:t>
            </a:r>
          </a:p>
          <a:p>
            <a:pPr algn="l">
              <a:spcAft>
                <a:spcPts val="500"/>
              </a:spcAft>
            </a:pPr>
            <a:r>
              <a:rPr sz="1400" b="1">
                <a:solidFill>
                  <a:srgbClr val="182230"/>
                </a:solidFill>
                <a:latin typeface="Aptos"/>
              </a:rPr>
              <a:t>Role and objective</a:t>
            </a:r>
          </a:p>
          <a:p>
            <a:pPr algn="l">
              <a:spcAft>
                <a:spcPts val="500"/>
              </a:spcAft>
            </a:pPr>
            <a:r>
              <a:rPr sz="1400" b="0">
                <a:solidFill>
                  <a:srgbClr val="182230"/>
                </a:solidFill>
                <a:latin typeface="Aptos"/>
              </a:rPr>
              <a:t>Authoritative evidence</a:t>
            </a:r>
          </a:p>
          <a:p>
            <a:pPr algn="l">
              <a:spcAft>
                <a:spcPts val="500"/>
              </a:spcAft>
            </a:pPr>
            <a:r>
              <a:rPr sz="1400" b="0">
                <a:solidFill>
                  <a:srgbClr val="182230"/>
                </a:solidFill>
                <a:latin typeface="Aptos"/>
              </a:rPr>
              <a:t>Required tool: exactly once</a:t>
            </a:r>
          </a:p>
          <a:p>
            <a:pPr algn="l">
              <a:spcAft>
                <a:spcPts val="500"/>
              </a:spcAft>
            </a:pPr>
            <a:r>
              <a:rPr sz="1400" b="0">
                <a:solidFill>
                  <a:srgbClr val="182230"/>
                </a:solidFill>
                <a:latin typeface="Aptos"/>
              </a:rPr>
              <a:t>Grounding and decision rules</a:t>
            </a:r>
          </a:p>
        </p:txBody>
      </p:sp>
      <p:sp>
        <p:nvSpPr>
          <p:cNvPr id="8" name="Rounded Rectangle 7"/>
          <p:cNvSpPr/>
          <p:nvPr/>
        </p:nvSpPr>
        <p:spPr>
          <a:xfrm>
            <a:off x="3154680" y="1664208"/>
            <a:ext cx="2542032" cy="2578608"/>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l">
              <a:spcAft>
                <a:spcPts val="500"/>
              </a:spcAft>
            </a:pPr>
            <a:r>
              <a:rPr sz="1300" b="1">
                <a:solidFill>
                  <a:srgbClr val="0F9F8F"/>
                </a:solidFill>
                <a:latin typeface="Aptos"/>
              </a:rPr>
              <a:t>PER-RUN STAGE PROMPT</a:t>
            </a:r>
          </a:p>
          <a:p>
            <a:pPr algn="l">
              <a:spcAft>
                <a:spcPts val="500"/>
              </a:spcAft>
            </a:pPr>
            <a:r>
              <a:rPr sz="1400" b="1">
                <a:solidFill>
                  <a:srgbClr val="182230"/>
                </a:solidFill>
                <a:latin typeface="Consolas"/>
              </a:rPr>
              <a:t>&lt;task&gt; ... &lt;/task&gt;</a:t>
            </a:r>
          </a:p>
          <a:p>
            <a:pPr algn="l">
              <a:spcAft>
                <a:spcPts val="500"/>
              </a:spcAft>
            </a:pPr>
            <a:r>
              <a:rPr sz="1300" b="0">
                <a:solidFill>
                  <a:srgbClr val="182230"/>
                </a:solidFill>
                <a:latin typeface="Consolas"/>
              </a:rPr>
              <a:t>&lt;output_contract&gt; ...</a:t>
            </a:r>
          </a:p>
          <a:p>
            <a:pPr algn="l">
              <a:spcAft>
                <a:spcPts val="500"/>
              </a:spcAft>
            </a:pPr>
            <a:r>
              <a:rPr sz="1300" b="0">
                <a:solidFill>
                  <a:srgbClr val="182230"/>
                </a:solidFill>
                <a:latin typeface="Consolas"/>
              </a:rPr>
              <a:t>&lt;evidence&gt; ...</a:t>
            </a:r>
          </a:p>
          <a:p>
            <a:pPr algn="l">
              <a:spcAft>
                <a:spcPts val="500"/>
              </a:spcAft>
            </a:pPr>
            <a:r>
              <a:rPr sz="1300" b="0">
                <a:solidFill>
                  <a:srgbClr val="182230"/>
                </a:solidFill>
                <a:latin typeface="Consolas"/>
              </a:rPr>
              <a:t>&lt;final_check&gt; ...</a:t>
            </a:r>
          </a:p>
        </p:txBody>
      </p:sp>
      <p:sp>
        <p:nvSpPr>
          <p:cNvPr id="9" name="TextBox 8"/>
          <p:cNvSpPr txBox="1"/>
          <p:nvPr/>
        </p:nvSpPr>
        <p:spPr>
          <a:xfrm>
            <a:off x="6080760" y="1261872"/>
            <a:ext cx="5440680" cy="274320"/>
          </a:xfrm>
          <a:prstGeom prst="rect">
            <a:avLst/>
          </a:prstGeom>
          <a:noFill/>
        </p:spPr>
        <p:txBody>
          <a:bodyPr wrap="square" lIns="0" tIns="0" rIns="0" bIns="0" anchor="ctr">
            <a:spAutoFit/>
          </a:bodyPr>
          <a:lstStyle/>
          <a:p>
            <a:pPr algn="l"/>
            <a:r>
              <a:rPr sz="1200" b="1">
                <a:solidFill>
                  <a:srgbClr val="0F9F8F"/>
                </a:solidFill>
                <a:latin typeface="Aptos"/>
              </a:rPr>
              <a:t>DEFENSE IN DEPTH</a:t>
            </a:r>
          </a:p>
        </p:txBody>
      </p:sp>
      <p:sp>
        <p:nvSpPr>
          <p:cNvPr id="10" name="Rounded Rectangle 9"/>
          <p:cNvSpPr/>
          <p:nvPr/>
        </p:nvSpPr>
        <p:spPr>
          <a:xfrm>
            <a:off x="6080760" y="1627632"/>
            <a:ext cx="5440680" cy="566928"/>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0" y="1728216"/>
            <a:ext cx="365760" cy="365760"/>
          </a:xfrm>
          <a:prstGeom prst="roundRect">
            <a:avLst>
              <a:gd name="adj" fmla="val 8000"/>
            </a:avLst>
          </a:prstGeom>
          <a:solidFill>
            <a:srgbClr val="DBEAFE"/>
          </a:solidFill>
          <a:ln>
            <a:solidFill>
              <a:srgbClr val="DBEAFE"/>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2563EB"/>
                </a:solidFill>
                <a:latin typeface="Aptos"/>
              </a:rPr>
              <a:t>1</a:t>
            </a:r>
          </a:p>
        </p:txBody>
      </p:sp>
      <p:sp>
        <p:nvSpPr>
          <p:cNvPr id="12" name="TextBox 11"/>
          <p:cNvSpPr txBox="1"/>
          <p:nvPr/>
        </p:nvSpPr>
        <p:spPr>
          <a:xfrm>
            <a:off x="6720840" y="1700784"/>
            <a:ext cx="1508760" cy="201168"/>
          </a:xfrm>
          <a:prstGeom prst="rect">
            <a:avLst/>
          </a:prstGeom>
          <a:noFill/>
        </p:spPr>
        <p:txBody>
          <a:bodyPr wrap="square" lIns="0" tIns="0" rIns="0" bIns="0" anchor="ctr">
            <a:spAutoFit/>
          </a:bodyPr>
          <a:lstStyle/>
          <a:p>
            <a:pPr algn="l"/>
            <a:r>
              <a:rPr sz="1200" b="1">
                <a:solidFill>
                  <a:srgbClr val="0B1F3A"/>
                </a:solidFill>
                <a:latin typeface="Aptos"/>
              </a:rPr>
              <a:t>Source grounding</a:t>
            </a:r>
          </a:p>
        </p:txBody>
      </p:sp>
      <p:sp>
        <p:nvSpPr>
          <p:cNvPr id="13" name="TextBox 12"/>
          <p:cNvSpPr txBox="1"/>
          <p:nvPr/>
        </p:nvSpPr>
        <p:spPr>
          <a:xfrm>
            <a:off x="8275320" y="1700784"/>
            <a:ext cx="3017520" cy="310896"/>
          </a:xfrm>
          <a:prstGeom prst="rect">
            <a:avLst/>
          </a:prstGeom>
          <a:noFill/>
        </p:spPr>
        <p:txBody>
          <a:bodyPr wrap="square" lIns="0" tIns="0" rIns="0" bIns="0" anchor="ctr">
            <a:spAutoFit/>
          </a:bodyPr>
          <a:lstStyle/>
          <a:p>
            <a:pPr algn="l"/>
            <a:r>
              <a:rPr sz="1000" b="0">
                <a:solidFill>
                  <a:srgbClr val="5B6675"/>
                </a:solidFill>
                <a:latin typeface="Aptos"/>
              </a:rPr>
              <a:t>Requirement text must exist in supplied evidence</a:t>
            </a:r>
          </a:p>
        </p:txBody>
      </p:sp>
      <p:sp>
        <p:nvSpPr>
          <p:cNvPr id="14" name="Rounded Rectangle 13"/>
          <p:cNvSpPr/>
          <p:nvPr/>
        </p:nvSpPr>
        <p:spPr>
          <a:xfrm>
            <a:off x="6080760" y="2295144"/>
            <a:ext cx="5440680" cy="566928"/>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17920" y="2395727"/>
            <a:ext cx="365760" cy="365760"/>
          </a:xfrm>
          <a:prstGeom prst="roundRect">
            <a:avLst>
              <a:gd name="adj" fmla="val 8000"/>
            </a:avLst>
          </a:prstGeom>
          <a:solidFill>
            <a:srgbClr val="CCFBF1"/>
          </a:solidFill>
          <a:ln>
            <a:solidFill>
              <a:srgbClr val="CCFBF1"/>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0F9F8F"/>
                </a:solidFill>
                <a:latin typeface="Aptos"/>
              </a:rPr>
              <a:t>2</a:t>
            </a:r>
          </a:p>
        </p:txBody>
      </p:sp>
      <p:sp>
        <p:nvSpPr>
          <p:cNvPr id="16" name="TextBox 15"/>
          <p:cNvSpPr txBox="1"/>
          <p:nvPr/>
        </p:nvSpPr>
        <p:spPr>
          <a:xfrm>
            <a:off x="6720840" y="2368296"/>
            <a:ext cx="1508760" cy="201168"/>
          </a:xfrm>
          <a:prstGeom prst="rect">
            <a:avLst/>
          </a:prstGeom>
          <a:noFill/>
        </p:spPr>
        <p:txBody>
          <a:bodyPr wrap="square" lIns="0" tIns="0" rIns="0" bIns="0" anchor="ctr">
            <a:spAutoFit/>
          </a:bodyPr>
          <a:lstStyle/>
          <a:p>
            <a:pPr algn="l"/>
            <a:r>
              <a:rPr sz="1200" b="1">
                <a:solidFill>
                  <a:srgbClr val="0B1F3A"/>
                </a:solidFill>
                <a:latin typeface="Aptos"/>
              </a:rPr>
              <a:t>Typed contracts</a:t>
            </a:r>
          </a:p>
        </p:txBody>
      </p:sp>
      <p:sp>
        <p:nvSpPr>
          <p:cNvPr id="17" name="TextBox 16"/>
          <p:cNvSpPr txBox="1"/>
          <p:nvPr/>
        </p:nvSpPr>
        <p:spPr>
          <a:xfrm>
            <a:off x="8275320" y="2368296"/>
            <a:ext cx="3017520" cy="310896"/>
          </a:xfrm>
          <a:prstGeom prst="rect">
            <a:avLst/>
          </a:prstGeom>
          <a:noFill/>
        </p:spPr>
        <p:txBody>
          <a:bodyPr wrap="square" lIns="0" tIns="0" rIns="0" bIns="0" anchor="ctr">
            <a:spAutoFit/>
          </a:bodyPr>
          <a:lstStyle/>
          <a:p>
            <a:pPr algn="l"/>
            <a:r>
              <a:rPr sz="1000" b="0">
                <a:solidFill>
                  <a:srgbClr val="5B6675"/>
                </a:solidFill>
                <a:latin typeface="Aptos"/>
              </a:rPr>
              <a:t>Pydantic schemas and allowlisted categories</a:t>
            </a:r>
          </a:p>
        </p:txBody>
      </p:sp>
      <p:sp>
        <p:nvSpPr>
          <p:cNvPr id="18" name="Rounded Rectangle 17"/>
          <p:cNvSpPr/>
          <p:nvPr/>
        </p:nvSpPr>
        <p:spPr>
          <a:xfrm>
            <a:off x="6080760" y="2962656"/>
            <a:ext cx="5440680" cy="566928"/>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0" y="3063240"/>
            <a:ext cx="365760" cy="365760"/>
          </a:xfrm>
          <a:prstGeom prst="roundRect">
            <a:avLst>
              <a:gd name="adj" fmla="val 8000"/>
            </a:avLst>
          </a:prstGeom>
          <a:solidFill>
            <a:srgbClr val="FEF3C7"/>
          </a:solidFill>
          <a:ln>
            <a:solidFill>
              <a:srgbClr val="FEF3C7"/>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B45309"/>
                </a:solidFill>
                <a:latin typeface="Aptos"/>
              </a:rPr>
              <a:t>3</a:t>
            </a:r>
          </a:p>
        </p:txBody>
      </p:sp>
      <p:sp>
        <p:nvSpPr>
          <p:cNvPr id="20" name="TextBox 19"/>
          <p:cNvSpPr txBox="1"/>
          <p:nvPr/>
        </p:nvSpPr>
        <p:spPr>
          <a:xfrm>
            <a:off x="6720840" y="3035808"/>
            <a:ext cx="1508760" cy="201168"/>
          </a:xfrm>
          <a:prstGeom prst="rect">
            <a:avLst/>
          </a:prstGeom>
          <a:noFill/>
        </p:spPr>
        <p:txBody>
          <a:bodyPr wrap="square" lIns="0" tIns="0" rIns="0" bIns="0" anchor="ctr">
            <a:spAutoFit/>
          </a:bodyPr>
          <a:lstStyle/>
          <a:p>
            <a:pPr algn="l"/>
            <a:r>
              <a:rPr sz="1200" b="1">
                <a:solidFill>
                  <a:srgbClr val="0B1F3A"/>
                </a:solidFill>
                <a:latin typeface="Aptos"/>
              </a:rPr>
              <a:t>Identity checks</a:t>
            </a:r>
          </a:p>
        </p:txBody>
      </p:sp>
      <p:sp>
        <p:nvSpPr>
          <p:cNvPr id="21" name="TextBox 20"/>
          <p:cNvSpPr txBox="1"/>
          <p:nvPr/>
        </p:nvSpPr>
        <p:spPr>
          <a:xfrm>
            <a:off x="8275320" y="3035808"/>
            <a:ext cx="3017520" cy="310896"/>
          </a:xfrm>
          <a:prstGeom prst="rect">
            <a:avLst/>
          </a:prstGeom>
          <a:noFill/>
        </p:spPr>
        <p:txBody>
          <a:bodyPr wrap="square" lIns="0" tIns="0" rIns="0" bIns="0" anchor="ctr">
            <a:spAutoFit/>
          </a:bodyPr>
          <a:lstStyle/>
          <a:p>
            <a:pPr algn="l"/>
            <a:r>
              <a:rPr sz="1000" b="0">
                <a:solidFill>
                  <a:srgbClr val="5B6675"/>
                </a:solidFill>
                <a:latin typeface="Aptos"/>
              </a:rPr>
              <a:t>Known requirement IDs and backlog IDs only</a:t>
            </a:r>
          </a:p>
        </p:txBody>
      </p:sp>
      <p:sp>
        <p:nvSpPr>
          <p:cNvPr id="22" name="Rounded Rectangle 21"/>
          <p:cNvSpPr/>
          <p:nvPr/>
        </p:nvSpPr>
        <p:spPr>
          <a:xfrm>
            <a:off x="6080760" y="3630168"/>
            <a:ext cx="5440680" cy="566928"/>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17920" y="3730752"/>
            <a:ext cx="365760" cy="365760"/>
          </a:xfrm>
          <a:prstGeom prst="roundRect">
            <a:avLst>
              <a:gd name="adj" fmla="val 8000"/>
            </a:avLst>
          </a:prstGeom>
          <a:solidFill>
            <a:srgbClr val="FEE2E2"/>
          </a:solidFill>
          <a:ln>
            <a:solidFill>
              <a:srgbClr val="FEE2E2"/>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DC2626"/>
                </a:solidFill>
                <a:latin typeface="Aptos"/>
              </a:rPr>
              <a:t>4</a:t>
            </a:r>
          </a:p>
        </p:txBody>
      </p:sp>
      <p:sp>
        <p:nvSpPr>
          <p:cNvPr id="24" name="TextBox 23"/>
          <p:cNvSpPr txBox="1"/>
          <p:nvPr/>
        </p:nvSpPr>
        <p:spPr>
          <a:xfrm>
            <a:off x="6720840" y="3703320"/>
            <a:ext cx="1508760" cy="201168"/>
          </a:xfrm>
          <a:prstGeom prst="rect">
            <a:avLst/>
          </a:prstGeom>
          <a:noFill/>
        </p:spPr>
        <p:txBody>
          <a:bodyPr wrap="square" lIns="0" tIns="0" rIns="0" bIns="0" anchor="ctr">
            <a:spAutoFit/>
          </a:bodyPr>
          <a:lstStyle/>
          <a:p>
            <a:pPr algn="l"/>
            <a:r>
              <a:rPr sz="1200" b="1">
                <a:solidFill>
                  <a:srgbClr val="0B1F3A"/>
                </a:solidFill>
                <a:latin typeface="Aptos"/>
              </a:rPr>
              <a:t>Final validation</a:t>
            </a:r>
          </a:p>
        </p:txBody>
      </p:sp>
      <p:sp>
        <p:nvSpPr>
          <p:cNvPr id="25" name="TextBox 24"/>
          <p:cNvSpPr txBox="1"/>
          <p:nvPr/>
        </p:nvSpPr>
        <p:spPr>
          <a:xfrm>
            <a:off x="8275320" y="3703320"/>
            <a:ext cx="3017520" cy="310896"/>
          </a:xfrm>
          <a:prstGeom prst="rect">
            <a:avLst/>
          </a:prstGeom>
          <a:noFill/>
        </p:spPr>
        <p:txBody>
          <a:bodyPr wrap="square" lIns="0" tIns="0" rIns="0" bIns="0" anchor="ctr">
            <a:spAutoFit/>
          </a:bodyPr>
          <a:lstStyle/>
          <a:p>
            <a:pPr algn="l"/>
            <a:r>
              <a:rPr sz="1000" b="0">
                <a:solidFill>
                  <a:srgbClr val="5B6675"/>
                </a:solidFill>
                <a:latin typeface="Aptos"/>
              </a:rPr>
              <a:t>Action mapping, coverage, limits, tool count</a:t>
            </a:r>
          </a:p>
        </p:txBody>
      </p:sp>
      <p:sp>
        <p:nvSpPr>
          <p:cNvPr id="26" name="Rounded Rectangle 25"/>
          <p:cNvSpPr/>
          <p:nvPr/>
        </p:nvSpPr>
        <p:spPr>
          <a:xfrm>
            <a:off x="6080760" y="4297680"/>
            <a:ext cx="5440680" cy="566928"/>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217920" y="4398264"/>
            <a:ext cx="365760" cy="365760"/>
          </a:xfrm>
          <a:prstGeom prst="roundRect">
            <a:avLst>
              <a:gd name="adj" fmla="val 8000"/>
            </a:avLst>
          </a:prstGeom>
          <a:solidFill>
            <a:srgbClr val="DCFCE7"/>
          </a:solidFill>
          <a:ln>
            <a:solidFill>
              <a:srgbClr val="DCFCE7"/>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16A34A"/>
                </a:solidFill>
                <a:latin typeface="Aptos"/>
              </a:rPr>
              <a:t>5</a:t>
            </a:r>
          </a:p>
        </p:txBody>
      </p:sp>
      <p:sp>
        <p:nvSpPr>
          <p:cNvPr id="28" name="TextBox 27"/>
          <p:cNvSpPr txBox="1"/>
          <p:nvPr/>
        </p:nvSpPr>
        <p:spPr>
          <a:xfrm>
            <a:off x="6720840" y="4370832"/>
            <a:ext cx="1508760" cy="201168"/>
          </a:xfrm>
          <a:prstGeom prst="rect">
            <a:avLst/>
          </a:prstGeom>
          <a:noFill/>
        </p:spPr>
        <p:txBody>
          <a:bodyPr wrap="square" lIns="0" tIns="0" rIns="0" bIns="0" anchor="ctr">
            <a:spAutoFit/>
          </a:bodyPr>
          <a:lstStyle/>
          <a:p>
            <a:pPr algn="l"/>
            <a:r>
              <a:rPr sz="1200" b="1">
                <a:solidFill>
                  <a:srgbClr val="0B1F3A"/>
                </a:solidFill>
                <a:latin typeface="Aptos"/>
              </a:rPr>
              <a:t>Safe fallback</a:t>
            </a:r>
          </a:p>
        </p:txBody>
      </p:sp>
      <p:sp>
        <p:nvSpPr>
          <p:cNvPr id="29" name="TextBox 28"/>
          <p:cNvSpPr txBox="1"/>
          <p:nvPr/>
        </p:nvSpPr>
        <p:spPr>
          <a:xfrm>
            <a:off x="8275320" y="4370832"/>
            <a:ext cx="3017520" cy="310896"/>
          </a:xfrm>
          <a:prstGeom prst="rect">
            <a:avLst/>
          </a:prstGeom>
          <a:noFill/>
        </p:spPr>
        <p:txBody>
          <a:bodyPr wrap="square" lIns="0" tIns="0" rIns="0" bIns="0" anchor="ctr">
            <a:spAutoFit/>
          </a:bodyPr>
          <a:lstStyle/>
          <a:p>
            <a:pPr algn="l"/>
            <a:r>
              <a:rPr sz="1000" b="0">
                <a:solidFill>
                  <a:srgbClr val="5B6675"/>
                </a:solidFill>
                <a:latin typeface="Aptos"/>
              </a:rPr>
              <a:t>Invalid model output is discarded, not trusted</a:t>
            </a:r>
          </a:p>
        </p:txBody>
      </p:sp>
      <p:sp>
        <p:nvSpPr>
          <p:cNvPr id="30" name="Rounded Rectangle 29"/>
          <p:cNvSpPr/>
          <p:nvPr/>
        </p:nvSpPr>
        <p:spPr>
          <a:xfrm>
            <a:off x="594360" y="4617720"/>
            <a:ext cx="10927080" cy="1033271"/>
          </a:xfrm>
          <a:prstGeom prst="roundRect">
            <a:avLst>
              <a:gd name="adj" fmla="val 8000"/>
            </a:avLst>
          </a:prstGeom>
          <a:solidFill>
            <a:srgbClr val="FEE2E2"/>
          </a:solidFill>
          <a:ln>
            <a:solidFill>
              <a:srgbClr val="F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 y="4791456"/>
            <a:ext cx="1920240" cy="274320"/>
          </a:xfrm>
          <a:prstGeom prst="rect">
            <a:avLst/>
          </a:prstGeom>
          <a:noFill/>
        </p:spPr>
        <p:txBody>
          <a:bodyPr wrap="square" lIns="0" tIns="0" rIns="0" bIns="0" anchor="ctr">
            <a:spAutoFit/>
          </a:bodyPr>
          <a:lstStyle/>
          <a:p>
            <a:pPr algn="l"/>
            <a:r>
              <a:rPr sz="1200" b="1">
                <a:solidFill>
                  <a:srgbClr val="DC2626"/>
                </a:solidFill>
                <a:latin typeface="Aptos"/>
              </a:rPr>
              <a:t>INCORRECT RESULT FOUND</a:t>
            </a:r>
          </a:p>
        </p:txBody>
      </p:sp>
      <p:sp>
        <p:nvSpPr>
          <p:cNvPr id="32" name="TextBox 31"/>
          <p:cNvSpPr txBox="1"/>
          <p:nvPr/>
        </p:nvSpPr>
        <p:spPr>
          <a:xfrm>
            <a:off x="2743200" y="4727448"/>
            <a:ext cx="8458200" cy="621792"/>
          </a:xfrm>
          <a:prstGeom prst="rect">
            <a:avLst/>
          </a:prstGeom>
          <a:noFill/>
        </p:spPr>
        <p:txBody>
          <a:bodyPr wrap="square" lIns="0" tIns="0" rIns="0" bIns="0" anchor="ctr">
            <a:spAutoFit/>
          </a:bodyPr>
          <a:lstStyle/>
          <a:p>
            <a:pPr algn="l"/>
            <a:r>
              <a:rPr lang="en-US" sz="1300" b="0">
                <a:solidFill>
                  <a:srgbClr val="182230"/>
                </a:solidFill>
                <a:latin typeface="Aptos"/>
              </a:rPr>
              <a:t>A convincing-looking but incorrect model response rewrote a requirement and referenced an unknown backlog ID. Source comparison exposed it; grounding, known-ID validation, typed allowlists, and negative tests now prevent recurrence.</a:t>
            </a:r>
            <a:endParaRPr sz="1300" b="0">
              <a:solidFill>
                <a:srgbClr val="182230"/>
              </a:solidFill>
              <a:latin typeface="Aptos"/>
            </a:endParaRPr>
          </a:p>
        </p:txBody>
      </p:sp>
      <p:sp>
        <p:nvSpPr>
          <p:cNvPr id="33" name="Rounded Rectangle 32"/>
          <p:cNvSpPr/>
          <p:nvPr/>
        </p:nvSpPr>
        <p:spPr>
          <a:xfrm>
            <a:off x="3657600" y="5870448"/>
            <a:ext cx="4846320" cy="310896"/>
          </a:xfrm>
          <a:prstGeom prst="roundRect">
            <a:avLst>
              <a:gd name="adj" fmla="val 8000"/>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PROMPTS REDUCE RISK - VALIDATION ENFORCES TRUST</a:t>
            </a:r>
          </a:p>
        </p:txBody>
      </p:sp>
      <p:sp>
        <p:nvSpPr>
          <p:cNvPr id="34" name="TextBox 33"/>
          <p:cNvSpPr txBox="1"/>
          <p:nvPr/>
        </p:nvSpPr>
        <p:spPr>
          <a:xfrm>
            <a:off x="502920" y="6565392"/>
            <a:ext cx="7498079" cy="164592"/>
          </a:xfrm>
          <a:prstGeom prst="rect">
            <a:avLst/>
          </a:prstGeom>
          <a:noFill/>
        </p:spPr>
        <p:txBody>
          <a:bodyPr wrap="square" lIns="0" tIns="0" rIns="0" bIns="0" anchor="ctr">
            <a:spAutoFit/>
          </a:bodyPr>
          <a:lstStyle/>
          <a:p>
            <a:pPr algn="l"/>
            <a:r>
              <a:rPr sz="800" b="0">
                <a:solidFill>
                  <a:srgbClr val="5B6675"/>
                </a:solidFill>
                <a:latin typeface="Aptos"/>
              </a:rPr>
              <a:t>Smart Backlog Assistant | AI-native SDLC case study</a:t>
            </a:r>
          </a:p>
        </p:txBody>
      </p:sp>
      <p:sp>
        <p:nvSpPr>
          <p:cNvPr id="35" name="TextBox 34"/>
          <p:cNvSpPr txBox="1"/>
          <p:nvPr/>
        </p:nvSpPr>
        <p:spPr>
          <a:xfrm>
            <a:off x="9692640" y="6565392"/>
            <a:ext cx="2011680" cy="164592"/>
          </a:xfrm>
          <a:prstGeom prst="rect">
            <a:avLst/>
          </a:prstGeom>
          <a:noFill/>
        </p:spPr>
        <p:txBody>
          <a:bodyPr wrap="square" lIns="0" tIns="0" rIns="0" bIns="0" anchor="ctr">
            <a:spAutoFit/>
          </a:bodyPr>
          <a:lstStyle/>
          <a:p>
            <a:pPr algn="r"/>
            <a:r>
              <a:rPr sz="800" b="0">
                <a:solidFill>
                  <a:srgbClr val="2563EB"/>
                </a:solidFill>
                <a:latin typeface="Aptos"/>
              </a:rPr>
              <a:t>github.com/sjnoolkar-accenture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0607040" cy="411480"/>
          </a:xfrm>
          <a:prstGeom prst="rect">
            <a:avLst/>
          </a:prstGeom>
          <a:noFill/>
        </p:spPr>
        <p:txBody>
          <a:bodyPr wrap="square" lIns="0" tIns="0" rIns="0" bIns="0" anchor="ctr">
            <a:spAutoFit/>
          </a:bodyPr>
          <a:lstStyle/>
          <a:p>
            <a:pPr algn="l"/>
            <a:r>
              <a:rPr sz="2600" b="1">
                <a:solidFill>
                  <a:srgbClr val="0B1F3A"/>
                </a:solidFill>
                <a:latin typeface="Aptos"/>
              </a:rPr>
              <a:t>Representative result and evidence of alignment</a:t>
            </a:r>
          </a:p>
        </p:txBody>
      </p:sp>
      <p:sp>
        <p:nvSpPr>
          <p:cNvPr id="3" name="TextBox 2"/>
          <p:cNvSpPr txBox="1"/>
          <p:nvPr/>
        </p:nvSpPr>
        <p:spPr>
          <a:xfrm>
            <a:off x="530352" y="694944"/>
            <a:ext cx="10698480" cy="274320"/>
          </a:xfrm>
          <a:prstGeom prst="rect">
            <a:avLst/>
          </a:prstGeom>
          <a:noFill/>
        </p:spPr>
        <p:txBody>
          <a:bodyPr wrap="square" lIns="0" tIns="0" rIns="0" bIns="0" anchor="ctr">
            <a:spAutoFit/>
          </a:bodyPr>
          <a:lstStyle/>
          <a:p>
            <a:pPr algn="l"/>
            <a:r>
              <a:rPr sz="1100" b="0">
                <a:solidFill>
                  <a:srgbClr val="5B6675"/>
                </a:solidFill>
                <a:latin typeface="Aptos"/>
              </a:rPr>
              <a:t>Meeting modernization scenario: grounded extraction, backlog comparison, and review-ready output.</a:t>
            </a:r>
          </a:p>
        </p:txBody>
      </p:sp>
      <p:sp>
        <p:nvSpPr>
          <p:cNvPr id="4" name="Rounded Rectangle 3"/>
          <p:cNvSpPr/>
          <p:nvPr/>
        </p:nvSpPr>
        <p:spPr>
          <a:xfrm>
            <a:off x="11292840" y="256032"/>
            <a:ext cx="384048" cy="384048"/>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Aptos"/>
              </a:rPr>
              <a:t>6</a:t>
            </a:r>
          </a:p>
        </p:txBody>
      </p:sp>
      <p:sp>
        <p:nvSpPr>
          <p:cNvPr id="5" name="Rectangle 4"/>
          <p:cNvSpPr/>
          <p:nvPr/>
        </p:nvSpPr>
        <p:spPr>
          <a:xfrm>
            <a:off x="502920" y="1024128"/>
            <a:ext cx="11201400" cy="22860"/>
          </a:xfrm>
          <a:prstGeom prst="rect">
            <a:avLst/>
          </a:prstGeom>
          <a:solidFill>
            <a:srgbClr val="D8E0EA"/>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61872"/>
            <a:ext cx="3337560" cy="256032"/>
          </a:xfrm>
          <a:prstGeom prst="rect">
            <a:avLst/>
          </a:prstGeom>
          <a:noFill/>
        </p:spPr>
        <p:txBody>
          <a:bodyPr wrap="square" lIns="0" tIns="0" rIns="0" bIns="0" anchor="ctr">
            <a:spAutoFit/>
          </a:bodyPr>
          <a:lstStyle/>
          <a:p>
            <a:pPr algn="l"/>
            <a:r>
              <a:rPr sz="1200" b="1">
                <a:solidFill>
                  <a:srgbClr val="2563EB"/>
                </a:solidFill>
                <a:latin typeface="Aptos"/>
              </a:rPr>
              <a:t>EXAMPLE INPUT</a:t>
            </a:r>
          </a:p>
        </p:txBody>
      </p:sp>
      <p:sp>
        <p:nvSpPr>
          <p:cNvPr id="7" name="Rounded Rectangle 6"/>
          <p:cNvSpPr/>
          <p:nvPr/>
        </p:nvSpPr>
        <p:spPr>
          <a:xfrm>
            <a:off x="594360" y="1627632"/>
            <a:ext cx="3383280" cy="283464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l">
              <a:spcAft>
                <a:spcPts val="500"/>
              </a:spcAft>
            </a:pPr>
            <a:r>
              <a:rPr sz="1700" b="1">
                <a:solidFill>
                  <a:srgbClr val="0B1F3A"/>
                </a:solidFill>
                <a:latin typeface="Aptos"/>
              </a:rPr>
              <a:t>Inventory modernization meeting</a:t>
            </a:r>
          </a:p>
          <a:p>
            <a:pPr algn="l">
              <a:spcAft>
                <a:spcPts val="500"/>
              </a:spcAft>
            </a:pPr>
            <a:r>
              <a:rPr sz="1300" b="0">
                <a:solidFill>
                  <a:srgbClr val="182230"/>
                </a:solidFill>
                <a:latin typeface="Aptos"/>
              </a:rPr>
              <a:t>Upgrade Angular 9 to Angular 15.</a:t>
            </a:r>
          </a:p>
          <a:p>
            <a:pPr algn="l">
              <a:spcAft>
                <a:spcPts val="500"/>
              </a:spcAft>
            </a:pPr>
            <a:r>
              <a:rPr sz="1300" b="0">
                <a:solidFill>
                  <a:srgbClr val="182230"/>
                </a:solidFill>
                <a:latin typeface="Aptos"/>
              </a:rPr>
              <a:t>Define reusable Bicep templates.</a:t>
            </a:r>
          </a:p>
          <a:p>
            <a:pPr algn="l">
              <a:spcAft>
                <a:spcPts val="500"/>
              </a:spcAft>
            </a:pPr>
            <a:r>
              <a:rPr sz="1300" b="0">
                <a:solidFill>
                  <a:srgbClr val="182230"/>
                </a:solidFill>
                <a:latin typeface="Aptos"/>
              </a:rPr>
              <a:t>Build and deploy through controlled environments.</a:t>
            </a:r>
          </a:p>
          <a:p>
            <a:pPr algn="l">
              <a:spcAft>
                <a:spcPts val="500"/>
              </a:spcAft>
            </a:pPr>
            <a:r>
              <a:rPr sz="1300" b="0">
                <a:solidFill>
                  <a:srgbClr val="182230"/>
                </a:solidFill>
                <a:latin typeface="Aptos"/>
              </a:rPr>
              <a:t>Require production approval.</a:t>
            </a:r>
          </a:p>
          <a:p>
            <a:pPr algn="l">
              <a:spcAft>
                <a:spcPts val="500"/>
              </a:spcAft>
            </a:pPr>
            <a:r>
              <a:rPr sz="1300" b="0">
                <a:solidFill>
                  <a:srgbClr val="182230"/>
                </a:solidFill>
                <a:latin typeface="Aptos"/>
              </a:rPr>
              <a:t>Stop deployment when tests fail.</a:t>
            </a:r>
          </a:p>
          <a:p>
            <a:pPr algn="l">
              <a:spcAft>
                <a:spcPts val="500"/>
              </a:spcAft>
            </a:pPr>
            <a:r>
              <a:rPr sz="1300" b="1">
                <a:solidFill>
                  <a:srgbClr val="2563EB"/>
                </a:solidFill>
                <a:latin typeface="Aptos"/>
              </a:rPr>
              <a:t>+ Existing backlog item BL-201</a:t>
            </a:r>
          </a:p>
        </p:txBody>
      </p:sp>
      <p:sp>
        <p:nvSpPr>
          <p:cNvPr id="8" name="TextBox 7"/>
          <p:cNvSpPr txBox="1"/>
          <p:nvPr/>
        </p:nvSpPr>
        <p:spPr>
          <a:xfrm>
            <a:off x="4343400" y="1261872"/>
            <a:ext cx="3337560" cy="256032"/>
          </a:xfrm>
          <a:prstGeom prst="rect">
            <a:avLst/>
          </a:prstGeom>
          <a:noFill/>
        </p:spPr>
        <p:txBody>
          <a:bodyPr wrap="square" lIns="0" tIns="0" rIns="0" bIns="0" anchor="ctr">
            <a:spAutoFit/>
          </a:bodyPr>
          <a:lstStyle/>
          <a:p>
            <a:pPr algn="l"/>
            <a:r>
              <a:rPr sz="1200" b="1">
                <a:solidFill>
                  <a:srgbClr val="0F9F8F"/>
                </a:solidFill>
                <a:latin typeface="Aptos"/>
              </a:rPr>
              <a:t>GENERATED PROPOSAL</a:t>
            </a:r>
          </a:p>
        </p:txBody>
      </p:sp>
      <p:sp>
        <p:nvSpPr>
          <p:cNvPr id="9" name="Rounded Rectangle 8"/>
          <p:cNvSpPr/>
          <p:nvPr/>
        </p:nvSpPr>
        <p:spPr>
          <a:xfrm>
            <a:off x="4343400" y="1627632"/>
            <a:ext cx="3383280" cy="283464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l">
              <a:spcAft>
                <a:spcPts val="500"/>
              </a:spcAft>
            </a:pPr>
            <a:r>
              <a:rPr sz="1900" b="1">
                <a:solidFill>
                  <a:srgbClr val="0F9F8F"/>
                </a:solidFill>
                <a:latin typeface="Aptos"/>
              </a:rPr>
              <a:t>10 grounded requirements</a:t>
            </a:r>
          </a:p>
          <a:p>
            <a:pPr algn="l">
              <a:spcAft>
                <a:spcPts val="500"/>
              </a:spcAft>
            </a:pPr>
            <a:r>
              <a:rPr sz="1600" b="1">
                <a:solidFill>
                  <a:srgbClr val="0B1F3A"/>
                </a:solidFill>
                <a:latin typeface="Aptos"/>
              </a:rPr>
              <a:t>10 structured user stories</a:t>
            </a:r>
          </a:p>
          <a:p>
            <a:pPr algn="l">
              <a:spcAft>
                <a:spcPts val="500"/>
              </a:spcAft>
            </a:pPr>
            <a:r>
              <a:rPr sz="1300" b="0">
                <a:solidFill>
                  <a:srgbClr val="182230"/>
                </a:solidFill>
                <a:latin typeface="Aptos"/>
              </a:rPr>
              <a:t>Acceptance criteria and source locations</a:t>
            </a:r>
          </a:p>
          <a:p>
            <a:pPr algn="l">
              <a:spcAft>
                <a:spcPts val="500"/>
              </a:spcAft>
            </a:pPr>
            <a:r>
              <a:rPr sz="1300" b="0">
                <a:solidFill>
                  <a:srgbClr val="182230"/>
                </a:solidFill>
                <a:latin typeface="Aptos"/>
              </a:rPr>
              <a:t>Priority and engineering category</a:t>
            </a:r>
          </a:p>
          <a:p>
            <a:pPr algn="l">
              <a:spcAft>
                <a:spcPts val="500"/>
              </a:spcAft>
            </a:pPr>
            <a:r>
              <a:rPr sz="1300" b="0">
                <a:solidFill>
                  <a:srgbClr val="182230"/>
                </a:solidFill>
                <a:latin typeface="Aptos"/>
              </a:rPr>
              <a:t>Duplicate / related / gap decisions</a:t>
            </a:r>
          </a:p>
          <a:p>
            <a:pPr algn="l">
              <a:spcAft>
                <a:spcPts val="500"/>
              </a:spcAft>
            </a:pPr>
            <a:r>
              <a:rPr sz="1300" b="0">
                <a:solidFill>
                  <a:srgbClr val="182230"/>
                </a:solidFill>
                <a:latin typeface="Aptos"/>
              </a:rPr>
              <a:t>Canonical JSON + readable Markdown</a:t>
            </a:r>
          </a:p>
          <a:p>
            <a:pPr algn="l">
              <a:spcAft>
                <a:spcPts val="500"/>
              </a:spcAft>
            </a:pPr>
            <a:r>
              <a:rPr sz="1400" b="1">
                <a:solidFill>
                  <a:srgbClr val="B45309"/>
                </a:solidFill>
                <a:latin typeface="Aptos"/>
              </a:rPr>
              <a:t>Approval required: true</a:t>
            </a:r>
          </a:p>
        </p:txBody>
      </p:sp>
      <p:cxnSp>
        <p:nvCxnSpPr>
          <p:cNvPr id="10" name="Connector 9"/>
          <p:cNvCxnSpPr/>
          <p:nvPr/>
        </p:nvCxnSpPr>
        <p:spPr>
          <a:xfrm>
            <a:off x="3977639" y="3035808"/>
            <a:ext cx="338329" cy="0"/>
          </a:xfrm>
          <a:prstGeom prst="line">
            <a:avLst/>
          </a:prstGeom>
          <a:ln w="27940">
            <a:solidFill>
              <a:srgbClr val="0F9F8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092440" y="1261872"/>
            <a:ext cx="3474720" cy="256032"/>
          </a:xfrm>
          <a:prstGeom prst="rect">
            <a:avLst/>
          </a:prstGeom>
          <a:noFill/>
        </p:spPr>
        <p:txBody>
          <a:bodyPr wrap="square" lIns="0" tIns="0" rIns="0" bIns="0" anchor="ctr">
            <a:spAutoFit/>
          </a:bodyPr>
          <a:lstStyle/>
          <a:p>
            <a:pPr algn="l"/>
            <a:r>
              <a:rPr sz="1200" b="1">
                <a:solidFill>
                  <a:srgbClr val="F59E0B"/>
                </a:solidFill>
                <a:latin typeface="Aptos"/>
              </a:rPr>
              <a:t>VERIFIABLE EVIDENCE</a:t>
            </a:r>
          </a:p>
        </p:txBody>
      </p:sp>
      <p:sp>
        <p:nvSpPr>
          <p:cNvPr id="12" name="Rounded Rectangle 11"/>
          <p:cNvSpPr/>
          <p:nvPr/>
        </p:nvSpPr>
        <p:spPr>
          <a:xfrm>
            <a:off x="8092440" y="1627632"/>
            <a:ext cx="1600200" cy="96012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0" y="1737360"/>
            <a:ext cx="1325880" cy="393192"/>
          </a:xfrm>
          <a:prstGeom prst="rect">
            <a:avLst/>
          </a:prstGeom>
          <a:noFill/>
        </p:spPr>
        <p:txBody>
          <a:bodyPr wrap="square" lIns="0" tIns="0" rIns="0" bIns="0" anchor="ctr">
            <a:spAutoFit/>
          </a:bodyPr>
          <a:lstStyle/>
          <a:p>
            <a:pPr algn="ctr"/>
            <a:r>
              <a:rPr sz="2500" b="1">
                <a:solidFill>
                  <a:srgbClr val="2563EB"/>
                </a:solidFill>
                <a:latin typeface="Aptos"/>
              </a:rPr>
              <a:t>24</a:t>
            </a:r>
          </a:p>
        </p:txBody>
      </p:sp>
      <p:sp>
        <p:nvSpPr>
          <p:cNvPr id="14" name="TextBox 13"/>
          <p:cNvSpPr txBox="1"/>
          <p:nvPr/>
        </p:nvSpPr>
        <p:spPr>
          <a:xfrm>
            <a:off x="8202167" y="2157984"/>
            <a:ext cx="1380744" cy="256032"/>
          </a:xfrm>
          <a:prstGeom prst="rect">
            <a:avLst/>
          </a:prstGeom>
          <a:noFill/>
        </p:spPr>
        <p:txBody>
          <a:bodyPr wrap="square" lIns="0" tIns="0" rIns="0" bIns="0" anchor="ctr">
            <a:spAutoFit/>
          </a:bodyPr>
          <a:lstStyle/>
          <a:p>
            <a:pPr algn="ctr"/>
            <a:r>
              <a:rPr sz="1000" b="0">
                <a:solidFill>
                  <a:srgbClr val="5B6675"/>
                </a:solidFill>
                <a:latin typeface="Aptos"/>
              </a:rPr>
              <a:t>functional requirements</a:t>
            </a:r>
          </a:p>
        </p:txBody>
      </p:sp>
      <p:sp>
        <p:nvSpPr>
          <p:cNvPr id="15" name="Rounded Rectangle 14"/>
          <p:cNvSpPr/>
          <p:nvPr/>
        </p:nvSpPr>
        <p:spPr>
          <a:xfrm>
            <a:off x="9893808" y="1627632"/>
            <a:ext cx="1600200" cy="96012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30968" y="1737360"/>
            <a:ext cx="1325880" cy="393192"/>
          </a:xfrm>
          <a:prstGeom prst="rect">
            <a:avLst/>
          </a:prstGeom>
          <a:noFill/>
        </p:spPr>
        <p:txBody>
          <a:bodyPr wrap="square" lIns="0" tIns="0" rIns="0" bIns="0" anchor="ctr">
            <a:spAutoFit/>
          </a:bodyPr>
          <a:lstStyle/>
          <a:p>
            <a:pPr algn="ctr"/>
            <a:r>
              <a:rPr sz="2500" b="1">
                <a:solidFill>
                  <a:srgbClr val="0F9F8F"/>
                </a:solidFill>
                <a:latin typeface="Aptos"/>
              </a:rPr>
              <a:t>32</a:t>
            </a:r>
          </a:p>
        </p:txBody>
      </p:sp>
      <p:sp>
        <p:nvSpPr>
          <p:cNvPr id="17" name="TextBox 16"/>
          <p:cNvSpPr txBox="1"/>
          <p:nvPr/>
        </p:nvSpPr>
        <p:spPr>
          <a:xfrm>
            <a:off x="10003536" y="2157984"/>
            <a:ext cx="1380744" cy="256032"/>
          </a:xfrm>
          <a:prstGeom prst="rect">
            <a:avLst/>
          </a:prstGeom>
          <a:noFill/>
        </p:spPr>
        <p:txBody>
          <a:bodyPr wrap="square" lIns="0" tIns="0" rIns="0" bIns="0" anchor="ctr">
            <a:spAutoFit/>
          </a:bodyPr>
          <a:lstStyle/>
          <a:p>
            <a:pPr algn="ctr"/>
            <a:r>
              <a:rPr sz="1000" b="0">
                <a:solidFill>
                  <a:srgbClr val="5B6675"/>
                </a:solidFill>
                <a:latin typeface="Aptos"/>
              </a:rPr>
              <a:t>passing tests</a:t>
            </a:r>
          </a:p>
        </p:txBody>
      </p:sp>
      <p:sp>
        <p:nvSpPr>
          <p:cNvPr id="18" name="Rounded Rectangle 17"/>
          <p:cNvSpPr/>
          <p:nvPr/>
        </p:nvSpPr>
        <p:spPr>
          <a:xfrm>
            <a:off x="8092440" y="2761488"/>
            <a:ext cx="1600200" cy="96012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0" y="2871216"/>
            <a:ext cx="1325880" cy="393192"/>
          </a:xfrm>
          <a:prstGeom prst="rect">
            <a:avLst/>
          </a:prstGeom>
          <a:noFill/>
        </p:spPr>
        <p:txBody>
          <a:bodyPr wrap="square" lIns="0" tIns="0" rIns="0" bIns="0" anchor="ctr">
            <a:spAutoFit/>
          </a:bodyPr>
          <a:lstStyle/>
          <a:p>
            <a:pPr algn="ctr"/>
            <a:r>
              <a:rPr sz="2500" b="1">
                <a:solidFill>
                  <a:srgbClr val="F59E0B"/>
                </a:solidFill>
                <a:latin typeface="Aptos"/>
              </a:rPr>
              <a:t>5</a:t>
            </a:r>
          </a:p>
        </p:txBody>
      </p:sp>
      <p:sp>
        <p:nvSpPr>
          <p:cNvPr id="20" name="TextBox 19"/>
          <p:cNvSpPr txBox="1"/>
          <p:nvPr/>
        </p:nvSpPr>
        <p:spPr>
          <a:xfrm>
            <a:off x="8202167" y="3291840"/>
            <a:ext cx="1380744" cy="256032"/>
          </a:xfrm>
          <a:prstGeom prst="rect">
            <a:avLst/>
          </a:prstGeom>
          <a:noFill/>
        </p:spPr>
        <p:txBody>
          <a:bodyPr wrap="square" lIns="0" tIns="0" rIns="0" bIns="0" anchor="ctr">
            <a:spAutoFit/>
          </a:bodyPr>
          <a:lstStyle/>
          <a:p>
            <a:pPr algn="ctr"/>
            <a:r>
              <a:rPr sz="1000" b="0">
                <a:solidFill>
                  <a:srgbClr val="5B6675"/>
                </a:solidFill>
                <a:latin typeface="Aptos"/>
              </a:rPr>
              <a:t>ordered tool records</a:t>
            </a:r>
          </a:p>
        </p:txBody>
      </p:sp>
      <p:sp>
        <p:nvSpPr>
          <p:cNvPr id="21" name="Rounded Rectangle 20"/>
          <p:cNvSpPr/>
          <p:nvPr/>
        </p:nvSpPr>
        <p:spPr>
          <a:xfrm>
            <a:off x="9893808" y="2761488"/>
            <a:ext cx="1600200" cy="960120"/>
          </a:xfrm>
          <a:prstGeom prst="roundRect">
            <a:avLst>
              <a:gd name="adj" fmla="val 8000"/>
            </a:avLst>
          </a:prstGeom>
          <a:solidFill>
            <a:srgbClr val="FFFFFF"/>
          </a:solidFill>
          <a:ln>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30968" y="2871216"/>
            <a:ext cx="1325880" cy="393192"/>
          </a:xfrm>
          <a:prstGeom prst="rect">
            <a:avLst/>
          </a:prstGeom>
          <a:noFill/>
        </p:spPr>
        <p:txBody>
          <a:bodyPr wrap="square" lIns="0" tIns="0" rIns="0" bIns="0" anchor="ctr">
            <a:spAutoFit/>
          </a:bodyPr>
          <a:lstStyle/>
          <a:p>
            <a:pPr algn="ctr"/>
            <a:r>
              <a:rPr sz="2500" b="1">
                <a:solidFill>
                  <a:srgbClr val="16A34A"/>
                </a:solidFill>
                <a:latin typeface="Aptos"/>
              </a:rPr>
              <a:t>0</a:t>
            </a:r>
          </a:p>
        </p:txBody>
      </p:sp>
      <p:sp>
        <p:nvSpPr>
          <p:cNvPr id="23" name="TextBox 22"/>
          <p:cNvSpPr txBox="1"/>
          <p:nvPr/>
        </p:nvSpPr>
        <p:spPr>
          <a:xfrm>
            <a:off x="10003536" y="3291840"/>
            <a:ext cx="1380744" cy="256032"/>
          </a:xfrm>
          <a:prstGeom prst="rect">
            <a:avLst/>
          </a:prstGeom>
          <a:noFill/>
        </p:spPr>
        <p:txBody>
          <a:bodyPr wrap="square" lIns="0" tIns="0" rIns="0" bIns="0" anchor="ctr">
            <a:spAutoFit/>
          </a:bodyPr>
          <a:lstStyle/>
          <a:p>
            <a:pPr algn="ctr"/>
            <a:r>
              <a:rPr sz="1000" b="0">
                <a:solidFill>
                  <a:srgbClr val="5B6675"/>
                </a:solidFill>
                <a:latin typeface="Aptos"/>
              </a:rPr>
              <a:t>backlog mutations</a:t>
            </a:r>
          </a:p>
        </p:txBody>
      </p:sp>
      <p:sp>
        <p:nvSpPr>
          <p:cNvPr id="24" name="Rounded Rectangle 23"/>
          <p:cNvSpPr/>
          <p:nvPr/>
        </p:nvSpPr>
        <p:spPr>
          <a:xfrm>
            <a:off x="8092440" y="3913632"/>
            <a:ext cx="3401568" cy="548640"/>
          </a:xfrm>
          <a:prstGeom prst="roundRect">
            <a:avLst>
              <a:gd name="adj" fmla="val 8000"/>
            </a:avLst>
          </a:prstGeom>
          <a:solidFill>
            <a:srgbClr val="FEF3C7"/>
          </a:solidFill>
          <a:ln>
            <a:solidFill>
              <a:srgbClr val="F8D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0" y="4023360"/>
            <a:ext cx="3127248" cy="292608"/>
          </a:xfrm>
          <a:prstGeom prst="rect">
            <a:avLst/>
          </a:prstGeom>
          <a:noFill/>
        </p:spPr>
        <p:txBody>
          <a:bodyPr wrap="square" lIns="0" tIns="0" rIns="0" bIns="0" anchor="ctr">
            <a:spAutoFit/>
          </a:bodyPr>
          <a:lstStyle/>
          <a:p>
            <a:pPr algn="ctr"/>
            <a:r>
              <a:rPr sz="1100" b="1">
                <a:solidFill>
                  <a:srgbClr val="92400E"/>
                </a:solidFill>
                <a:latin typeface="Aptos"/>
              </a:rPr>
              <a:t>Every FR maps to automated test evidence</a:t>
            </a:r>
          </a:p>
        </p:txBody>
      </p:sp>
      <p:sp>
        <p:nvSpPr>
          <p:cNvPr id="26" name="Rounded Rectangle 25"/>
          <p:cNvSpPr/>
          <p:nvPr/>
        </p:nvSpPr>
        <p:spPr>
          <a:xfrm>
            <a:off x="594360" y="4800600"/>
            <a:ext cx="10899648" cy="960120"/>
          </a:xfrm>
          <a:prstGeom prst="roundRect">
            <a:avLst>
              <a:gd name="adj" fmla="val 8000"/>
            </a:avLst>
          </a:prstGeom>
          <a:solidFill>
            <a:srgbClr val="0B1F3A"/>
          </a:solidFill>
          <a:ln>
            <a:solidFill>
              <a:srgbClr val="0B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8" y="4956048"/>
            <a:ext cx="10378440" cy="566928"/>
          </a:xfrm>
          <a:prstGeom prst="rect">
            <a:avLst/>
          </a:prstGeom>
          <a:noFill/>
        </p:spPr>
        <p:txBody>
          <a:bodyPr wrap="square" lIns="0" tIns="0" rIns="0" bIns="0" anchor="ctr">
            <a:spAutoFit/>
          </a:bodyPr>
          <a:lstStyle/>
          <a:p>
            <a:pPr algn="ctr"/>
            <a:r>
              <a:rPr sz="1500" b="1">
                <a:solidFill>
                  <a:srgbClr val="D9E7F8"/>
                </a:solidFill>
                <a:latin typeface="Consolas"/>
              </a:rPr>
              <a:t>&gt; verify-alignment.ps1
ALIGNMENT_OK   |   32 passed   |   SMOKE_OK   |   VERIFICATION_COMPLETE</a:t>
            </a:r>
          </a:p>
        </p:txBody>
      </p:sp>
      <p:sp>
        <p:nvSpPr>
          <p:cNvPr id="28" name="TextBox 27"/>
          <p:cNvSpPr txBox="1"/>
          <p:nvPr/>
        </p:nvSpPr>
        <p:spPr>
          <a:xfrm>
            <a:off x="502920" y="6565392"/>
            <a:ext cx="7498079" cy="164592"/>
          </a:xfrm>
          <a:prstGeom prst="rect">
            <a:avLst/>
          </a:prstGeom>
          <a:noFill/>
        </p:spPr>
        <p:txBody>
          <a:bodyPr wrap="square" lIns="0" tIns="0" rIns="0" bIns="0" anchor="ctr">
            <a:spAutoFit/>
          </a:bodyPr>
          <a:lstStyle/>
          <a:p>
            <a:pPr algn="l"/>
            <a:r>
              <a:rPr sz="800" b="0">
                <a:solidFill>
                  <a:srgbClr val="5B6675"/>
                </a:solidFill>
                <a:latin typeface="Aptos"/>
              </a:rPr>
              <a:t>Smart Backlog Assistant | AI-native SDLC case study</a:t>
            </a:r>
          </a:p>
        </p:txBody>
      </p:sp>
      <p:sp>
        <p:nvSpPr>
          <p:cNvPr id="29" name="TextBox 28"/>
          <p:cNvSpPr txBox="1"/>
          <p:nvPr/>
        </p:nvSpPr>
        <p:spPr>
          <a:xfrm>
            <a:off x="9692640" y="6565392"/>
            <a:ext cx="2011680" cy="164592"/>
          </a:xfrm>
          <a:prstGeom prst="rect">
            <a:avLst/>
          </a:prstGeom>
          <a:noFill/>
        </p:spPr>
        <p:txBody>
          <a:bodyPr wrap="square" lIns="0" tIns="0" rIns="0" bIns="0" anchor="ctr">
            <a:spAutoFit/>
          </a:bodyPr>
          <a:lstStyle/>
          <a:p>
            <a:pPr algn="r"/>
            <a:r>
              <a:rPr sz="800" b="0">
                <a:solidFill>
                  <a:srgbClr val="2563EB"/>
                </a:solidFill>
                <a:latin typeface="Aptos"/>
              </a:rPr>
              <a:t>github.com/sjnoolkar-accenture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Rounded Rectangle 1"/>
          <p:cNvSpPr/>
          <p:nvPr/>
        </p:nvSpPr>
        <p:spPr>
          <a:xfrm>
            <a:off x="685800" y="502920"/>
            <a:ext cx="1508760" cy="310896"/>
          </a:xfrm>
          <a:prstGeom prst="roundRect">
            <a:avLst>
              <a:gd name="adj" fmla="val 8000"/>
            </a:avLst>
          </a:prstGeom>
          <a:solidFill>
            <a:srgbClr val="0F9F8F"/>
          </a:solidFill>
          <a:ln>
            <a:solidFill>
              <a:srgbClr val="0F9F8F"/>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00" b="1">
                <a:solidFill>
                  <a:srgbClr val="FFFFFF"/>
                </a:solidFill>
                <a:latin typeface="Aptos"/>
              </a:rPr>
              <a:t>KEY TAKEAWAYS</a:t>
            </a:r>
          </a:p>
        </p:txBody>
      </p:sp>
      <p:sp>
        <p:nvSpPr>
          <p:cNvPr id="3" name="TextBox 2"/>
          <p:cNvSpPr txBox="1"/>
          <p:nvPr/>
        </p:nvSpPr>
        <p:spPr>
          <a:xfrm>
            <a:off x="685800" y="960120"/>
            <a:ext cx="10835640" cy="658368"/>
          </a:xfrm>
          <a:prstGeom prst="rect">
            <a:avLst/>
          </a:prstGeom>
          <a:noFill/>
        </p:spPr>
        <p:txBody>
          <a:bodyPr wrap="square" lIns="0" tIns="0" rIns="0" bIns="0" anchor="ctr">
            <a:spAutoFit/>
          </a:bodyPr>
          <a:lstStyle/>
          <a:p>
            <a:pPr algn="l"/>
            <a:r>
              <a:rPr sz="3000" b="1">
                <a:solidFill>
                  <a:srgbClr val="FFFFFF"/>
                </a:solidFill>
                <a:latin typeface="Aptos"/>
              </a:rPr>
              <a:t>A practical pattern for trustworthy AI-assisted engineering</a:t>
            </a:r>
          </a:p>
        </p:txBody>
      </p:sp>
      <p:sp>
        <p:nvSpPr>
          <p:cNvPr id="4" name="Rounded Rectangle 3"/>
          <p:cNvSpPr/>
          <p:nvPr/>
        </p:nvSpPr>
        <p:spPr>
          <a:xfrm>
            <a:off x="685800" y="1965960"/>
            <a:ext cx="3017520" cy="2560320"/>
          </a:xfrm>
          <a:prstGeom prst="roundRect">
            <a:avLst>
              <a:gd name="adj" fmla="val 8000"/>
            </a:avLst>
          </a:prstGeom>
          <a:solidFill>
            <a:srgbClr val="132C4B"/>
          </a:solidFill>
          <a:ln>
            <a:solidFill>
              <a:srgbClr val="294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965960"/>
            <a:ext cx="3017520"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2267712"/>
            <a:ext cx="2615184" cy="320040"/>
          </a:xfrm>
          <a:prstGeom prst="rect">
            <a:avLst/>
          </a:prstGeom>
          <a:noFill/>
        </p:spPr>
        <p:txBody>
          <a:bodyPr wrap="square" lIns="0" tIns="0" rIns="0" bIns="0" anchor="ctr">
            <a:spAutoFit/>
          </a:bodyPr>
          <a:lstStyle/>
          <a:p>
            <a:pPr algn="ctr"/>
            <a:r>
              <a:rPr sz="1300" b="1">
                <a:solidFill>
                  <a:srgbClr val="2563EB"/>
                </a:solidFill>
                <a:latin typeface="Aptos"/>
              </a:rPr>
              <a:t>ENGINEERING VALUE</a:t>
            </a:r>
          </a:p>
        </p:txBody>
      </p:sp>
      <p:sp>
        <p:nvSpPr>
          <p:cNvPr id="7" name="TextBox 6"/>
          <p:cNvSpPr txBox="1"/>
          <p:nvPr/>
        </p:nvSpPr>
        <p:spPr>
          <a:xfrm>
            <a:off x="850392" y="2788920"/>
            <a:ext cx="2688336" cy="1444752"/>
          </a:xfrm>
          <a:prstGeom prst="rect">
            <a:avLst/>
          </a:prstGeom>
          <a:noFill/>
        </p:spPr>
        <p:txBody>
          <a:bodyPr wrap="square" lIns="0" tIns="0" rIns="0" bIns="0">
            <a:spAutoFit/>
          </a:bodyPr>
          <a:lstStyle/>
          <a:p>
            <a:pPr algn="l">
              <a:spcAft>
                <a:spcPts val="800"/>
              </a:spcAft>
            </a:pPr>
            <a:r>
              <a:rPr sz="1300"/>
              <a:t>  </a:t>
            </a:r>
            <a:r>
              <a:rPr sz="1100">
                <a:solidFill>
                  <a:srgbClr val="2563EB"/>
                </a:solidFill>
                <a:latin typeface="Arial"/>
              </a:rPr>
              <a:t>● </a:t>
            </a:r>
            <a:r>
              <a:rPr sz="1300">
                <a:solidFill>
                  <a:srgbClr val="FFFFFF"/>
                </a:solidFill>
                <a:latin typeface="Aptos"/>
              </a:rPr>
              <a:t>Faster conversion of requirements into structured work</a:t>
            </a:r>
          </a:p>
          <a:p>
            <a:pPr algn="l">
              <a:spcAft>
                <a:spcPts val="800"/>
              </a:spcAft>
            </a:pPr>
            <a:r>
              <a:rPr sz="1300"/>
              <a:t>  </a:t>
            </a:r>
            <a:r>
              <a:rPr sz="1100">
                <a:solidFill>
                  <a:srgbClr val="2563EB"/>
                </a:solidFill>
                <a:latin typeface="Arial"/>
              </a:rPr>
              <a:t>● </a:t>
            </a:r>
            <a:r>
              <a:rPr sz="1300">
                <a:solidFill>
                  <a:srgbClr val="FFFFFF"/>
                </a:solidFill>
                <a:latin typeface="Aptos"/>
              </a:rPr>
              <a:t>Consistent stories, acceptance criteria, priority, and category</a:t>
            </a:r>
          </a:p>
          <a:p>
            <a:pPr algn="l">
              <a:spcAft>
                <a:spcPts val="800"/>
              </a:spcAft>
            </a:pPr>
            <a:r>
              <a:rPr sz="1300"/>
              <a:t>  </a:t>
            </a:r>
            <a:r>
              <a:rPr sz="1100">
                <a:solidFill>
                  <a:srgbClr val="2563EB"/>
                </a:solidFill>
                <a:latin typeface="Arial"/>
              </a:rPr>
              <a:t>● </a:t>
            </a:r>
            <a:r>
              <a:rPr sz="1300">
                <a:solidFill>
                  <a:srgbClr val="FFFFFF"/>
                </a:solidFill>
                <a:latin typeface="Aptos"/>
              </a:rPr>
              <a:t>Backlog reuse and gap detection</a:t>
            </a:r>
          </a:p>
        </p:txBody>
      </p:sp>
      <p:sp>
        <p:nvSpPr>
          <p:cNvPr id="8" name="Rounded Rectangle 7"/>
          <p:cNvSpPr/>
          <p:nvPr/>
        </p:nvSpPr>
        <p:spPr>
          <a:xfrm>
            <a:off x="4069080" y="1965960"/>
            <a:ext cx="3017520" cy="2560320"/>
          </a:xfrm>
          <a:prstGeom prst="roundRect">
            <a:avLst>
              <a:gd name="adj" fmla="val 8000"/>
            </a:avLst>
          </a:prstGeom>
          <a:solidFill>
            <a:srgbClr val="132C4B"/>
          </a:solidFill>
          <a:ln>
            <a:solidFill>
              <a:srgbClr val="294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069080" y="1965960"/>
            <a:ext cx="3017520" cy="73152"/>
          </a:xfrm>
          <a:prstGeom prst="rect">
            <a:avLst/>
          </a:prstGeom>
          <a:solidFill>
            <a:srgbClr val="0F9F8F"/>
          </a:solidFill>
          <a:ln>
            <a:solidFill>
              <a:srgbClr val="0F9F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70248" y="2267712"/>
            <a:ext cx="2615184" cy="320040"/>
          </a:xfrm>
          <a:prstGeom prst="rect">
            <a:avLst/>
          </a:prstGeom>
          <a:noFill/>
        </p:spPr>
        <p:txBody>
          <a:bodyPr wrap="square" lIns="0" tIns="0" rIns="0" bIns="0" anchor="ctr">
            <a:spAutoFit/>
          </a:bodyPr>
          <a:lstStyle/>
          <a:p>
            <a:pPr algn="ctr"/>
            <a:r>
              <a:rPr sz="1300" b="1">
                <a:solidFill>
                  <a:srgbClr val="0F9F8F"/>
                </a:solidFill>
                <a:latin typeface="Aptos"/>
              </a:rPr>
              <a:t>TRUST BY DESIGN</a:t>
            </a:r>
          </a:p>
        </p:txBody>
      </p:sp>
      <p:sp>
        <p:nvSpPr>
          <p:cNvPr id="11" name="TextBox 10"/>
          <p:cNvSpPr txBox="1"/>
          <p:nvPr/>
        </p:nvSpPr>
        <p:spPr>
          <a:xfrm>
            <a:off x="4233672" y="2788920"/>
            <a:ext cx="2688336" cy="1444752"/>
          </a:xfrm>
          <a:prstGeom prst="rect">
            <a:avLst/>
          </a:prstGeom>
          <a:noFill/>
        </p:spPr>
        <p:txBody>
          <a:bodyPr wrap="square" lIns="0" tIns="0" rIns="0" bIns="0">
            <a:spAutoFit/>
          </a:bodyPr>
          <a:lstStyle/>
          <a:p>
            <a:pPr algn="l">
              <a:spcAft>
                <a:spcPts val="800"/>
              </a:spcAft>
            </a:pPr>
            <a:r>
              <a:rPr sz="1300"/>
              <a:t>  </a:t>
            </a:r>
            <a:r>
              <a:rPr sz="1100">
                <a:solidFill>
                  <a:srgbClr val="0F9F8F"/>
                </a:solidFill>
                <a:latin typeface="Arial"/>
              </a:rPr>
              <a:t>● </a:t>
            </a:r>
            <a:r>
              <a:rPr sz="1300">
                <a:solidFill>
                  <a:srgbClr val="FFFFFF"/>
                </a:solidFill>
                <a:latin typeface="Aptos"/>
              </a:rPr>
              <a:t>Specification-first traceability</a:t>
            </a:r>
          </a:p>
          <a:p>
            <a:pPr algn="l">
              <a:spcAft>
                <a:spcPts val="800"/>
              </a:spcAft>
            </a:pPr>
            <a:r>
              <a:rPr sz="1300"/>
              <a:t>  </a:t>
            </a:r>
            <a:r>
              <a:rPr sz="1100">
                <a:solidFill>
                  <a:srgbClr val="0F9F8F"/>
                </a:solidFill>
                <a:latin typeface="Arial"/>
              </a:rPr>
              <a:t>● </a:t>
            </a:r>
            <a:r>
              <a:rPr sz="1300">
                <a:solidFill>
                  <a:srgbClr val="FFFFFF"/>
                </a:solidFill>
                <a:latin typeface="Aptos"/>
              </a:rPr>
              <a:t>Evidence grounding and deterministic guardrails</a:t>
            </a:r>
          </a:p>
          <a:p>
            <a:pPr algn="l">
              <a:spcAft>
                <a:spcPts val="800"/>
              </a:spcAft>
            </a:pPr>
            <a:r>
              <a:rPr sz="1300"/>
              <a:t>  </a:t>
            </a:r>
            <a:r>
              <a:rPr sz="1100">
                <a:solidFill>
                  <a:srgbClr val="0F9F8F"/>
                </a:solidFill>
                <a:latin typeface="Arial"/>
              </a:rPr>
              <a:t>● </a:t>
            </a:r>
            <a:r>
              <a:rPr sz="1300">
                <a:solidFill>
                  <a:srgbClr val="FFFFFF"/>
                </a:solidFill>
                <a:latin typeface="Aptos"/>
              </a:rPr>
              <a:t>Reproducible verification across artifacts</a:t>
            </a:r>
          </a:p>
        </p:txBody>
      </p:sp>
      <p:sp>
        <p:nvSpPr>
          <p:cNvPr id="12" name="Rounded Rectangle 11"/>
          <p:cNvSpPr/>
          <p:nvPr/>
        </p:nvSpPr>
        <p:spPr>
          <a:xfrm>
            <a:off x="7452360" y="1965960"/>
            <a:ext cx="3017520" cy="2560320"/>
          </a:xfrm>
          <a:prstGeom prst="roundRect">
            <a:avLst>
              <a:gd name="adj" fmla="val 8000"/>
            </a:avLst>
          </a:prstGeom>
          <a:solidFill>
            <a:srgbClr val="132C4B"/>
          </a:solidFill>
          <a:ln>
            <a:solidFill>
              <a:srgbClr val="294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2360" y="1965960"/>
            <a:ext cx="301752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53528" y="2267712"/>
            <a:ext cx="2615184" cy="320040"/>
          </a:xfrm>
          <a:prstGeom prst="rect">
            <a:avLst/>
          </a:prstGeom>
          <a:noFill/>
        </p:spPr>
        <p:txBody>
          <a:bodyPr wrap="square" lIns="0" tIns="0" rIns="0" bIns="0" anchor="ctr">
            <a:spAutoFit/>
          </a:bodyPr>
          <a:lstStyle/>
          <a:p>
            <a:pPr algn="ctr"/>
            <a:r>
              <a:rPr sz="1300" b="1">
                <a:solidFill>
                  <a:srgbClr val="F59E0B"/>
                </a:solidFill>
                <a:latin typeface="Aptos"/>
              </a:rPr>
              <a:t>HUMAN ACCOUNTABILITY</a:t>
            </a:r>
          </a:p>
        </p:txBody>
      </p:sp>
      <p:sp>
        <p:nvSpPr>
          <p:cNvPr id="15" name="TextBox 14"/>
          <p:cNvSpPr txBox="1"/>
          <p:nvPr/>
        </p:nvSpPr>
        <p:spPr>
          <a:xfrm>
            <a:off x="7616952" y="2788920"/>
            <a:ext cx="2688336" cy="1444752"/>
          </a:xfrm>
          <a:prstGeom prst="rect">
            <a:avLst/>
          </a:prstGeom>
          <a:noFill/>
        </p:spPr>
        <p:txBody>
          <a:bodyPr wrap="square" lIns="0" tIns="0" rIns="0" bIns="0">
            <a:spAutoFit/>
          </a:bodyPr>
          <a:lstStyle/>
          <a:p>
            <a:pPr algn="l">
              <a:spcAft>
                <a:spcPts val="800"/>
              </a:spcAft>
            </a:pPr>
            <a:r>
              <a:rPr sz="1300"/>
              <a:t>  </a:t>
            </a:r>
            <a:r>
              <a:rPr sz="1100">
                <a:solidFill>
                  <a:srgbClr val="F59E0B"/>
                </a:solidFill>
                <a:latin typeface="Arial"/>
              </a:rPr>
              <a:t>● </a:t>
            </a:r>
            <a:r>
              <a:rPr sz="1300">
                <a:solidFill>
                  <a:srgbClr val="FFFFFF"/>
                </a:solidFill>
                <a:latin typeface="Aptos"/>
              </a:rPr>
              <a:t>AI proposes; people approve</a:t>
            </a:r>
          </a:p>
          <a:p>
            <a:pPr algn="l">
              <a:spcAft>
                <a:spcPts val="800"/>
              </a:spcAft>
            </a:pPr>
            <a:r>
              <a:rPr sz="1300"/>
              <a:t>  </a:t>
            </a:r>
            <a:r>
              <a:rPr sz="1100">
                <a:solidFill>
                  <a:srgbClr val="F59E0B"/>
                </a:solidFill>
                <a:latin typeface="Arial"/>
              </a:rPr>
              <a:t>● </a:t>
            </a:r>
            <a:r>
              <a:rPr sz="1300">
                <a:solidFill>
                  <a:srgbClr val="FFFFFF"/>
                </a:solidFill>
                <a:latin typeface="Aptos"/>
              </a:rPr>
              <a:t>Existing backlog remains read-only</a:t>
            </a:r>
          </a:p>
          <a:p>
            <a:pPr algn="l">
              <a:spcAft>
                <a:spcPts val="800"/>
              </a:spcAft>
            </a:pPr>
            <a:r>
              <a:rPr sz="1300"/>
              <a:t>  </a:t>
            </a:r>
            <a:r>
              <a:rPr sz="1100">
                <a:solidFill>
                  <a:srgbClr val="F59E0B"/>
                </a:solidFill>
                <a:latin typeface="Arial"/>
              </a:rPr>
              <a:t>● </a:t>
            </a:r>
            <a:r>
              <a:rPr sz="1300">
                <a:solidFill>
                  <a:srgbClr val="FFFFFF"/>
                </a:solidFill>
                <a:latin typeface="Aptos"/>
              </a:rPr>
              <a:t>Publishing requires a separate approved specification</a:t>
            </a:r>
          </a:p>
        </p:txBody>
      </p:sp>
      <p:sp>
        <p:nvSpPr>
          <p:cNvPr id="16" name="Rounded Rectangle 15"/>
          <p:cNvSpPr/>
          <p:nvPr/>
        </p:nvSpPr>
        <p:spPr>
          <a:xfrm>
            <a:off x="685800" y="4983480"/>
            <a:ext cx="9646920" cy="96012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5193792"/>
            <a:ext cx="9098280" cy="512064"/>
          </a:xfrm>
          <a:prstGeom prst="rect">
            <a:avLst/>
          </a:prstGeom>
          <a:noFill/>
        </p:spPr>
        <p:txBody>
          <a:bodyPr wrap="square" lIns="0" tIns="0" rIns="0" bIns="0" anchor="ctr">
            <a:spAutoFit/>
          </a:bodyPr>
          <a:lstStyle/>
          <a:p>
            <a:pPr algn="ctr"/>
            <a:r>
              <a:rPr sz="2400" b="1">
                <a:solidFill>
                  <a:srgbClr val="0B1F3A"/>
                </a:solidFill>
                <a:latin typeface="Aptos"/>
              </a:rPr>
              <a:t>AI provides acceleration; disciplined engineering provides trust.</a:t>
            </a:r>
          </a:p>
        </p:txBody>
      </p:sp>
      <p:sp>
        <p:nvSpPr>
          <p:cNvPr id="18" name="Oval 17"/>
          <p:cNvSpPr/>
          <p:nvPr/>
        </p:nvSpPr>
        <p:spPr>
          <a:xfrm>
            <a:off x="10561320" y="4901184"/>
            <a:ext cx="914400" cy="914400"/>
          </a:xfrm>
          <a:prstGeom prst="ellipse">
            <a:avLst/>
          </a:prstGeom>
          <a:solidFill>
            <a:srgbClr val="0F9F8F"/>
          </a:solidFill>
          <a:ln>
            <a:solidFill>
              <a:srgbClr val="0F9F8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3400" b="1">
                <a:solidFill>
                  <a:srgbClr val="FFFFFF"/>
                </a:solidFill>
                <a:latin typeface="Aptos"/>
              </a:rPr>
              <a:t>✓</a:t>
            </a:r>
          </a:p>
        </p:txBody>
      </p:sp>
      <p:sp>
        <p:nvSpPr>
          <p:cNvPr id="19" name="TextBox 18"/>
          <p:cNvSpPr txBox="1"/>
          <p:nvPr/>
        </p:nvSpPr>
        <p:spPr>
          <a:xfrm>
            <a:off x="713232" y="6327648"/>
            <a:ext cx="10835640" cy="228600"/>
          </a:xfrm>
          <a:prstGeom prst="rect">
            <a:avLst/>
          </a:prstGeom>
          <a:noFill/>
        </p:spPr>
        <p:txBody>
          <a:bodyPr wrap="square" lIns="0" tIns="0" rIns="0" bIns="0" anchor="ctr">
            <a:spAutoFit/>
          </a:bodyPr>
          <a:lstStyle/>
          <a:p>
            <a:pPr algn="ctr"/>
            <a:r>
              <a:rPr sz="1100" b="0">
                <a:solidFill>
                  <a:srgbClr val="AFC0D5"/>
                </a:solidFill>
                <a:latin typeface="Aptos"/>
              </a:rPr>
              <a:t>Specifications -&gt; Architecture -&gt; Code -&gt; Tests -&gt; Runtime evidence -&gt; Human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1958</Words>
  <Application>Microsoft Office PowerPoint</Application>
  <PresentationFormat>Widescreen</PresentationFormat>
  <Paragraphs>254</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Backlog Assistant - AI-Native SDLC Case Study</dc:title>
  <dc:subject>Specification-first, grounded, and human-governed AI engineering case study</dc:subject>
  <dc:creator>Smart Backlog Assistant project team</dc:creator>
  <cp:keywords>AI-native SDLC, Spec Kit, prompt engineering, guardrails, traceability</cp:keywords>
  <dc:description>Generated from the repository's verified project report and implementation evidence.</dc:description>
  <cp:lastModifiedBy>Sonali Jaydeep Noolkar (Accenture International Limited)</cp:lastModifiedBy>
  <cp:revision>4</cp:revision>
  <dcterms:created xsi:type="dcterms:W3CDTF">2013-01-27T09:14:16Z</dcterms:created>
  <dcterms:modified xsi:type="dcterms:W3CDTF">2026-08-19T18:45:37Z</dcterms:modified>
  <cp:category/>
</cp:coreProperties>
</file>